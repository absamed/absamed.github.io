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79" r:id="rId9"/>
    <p:sldId id="263" r:id="rId10"/>
    <p:sldId id="264" r:id="rId11"/>
    <p:sldId id="265" r:id="rId12"/>
    <p:sldId id="282" r:id="rId13"/>
    <p:sldId id="277" r:id="rId14"/>
    <p:sldId id="266" r:id="rId15"/>
    <p:sldId id="280" r:id="rId16"/>
    <p:sldId id="267" r:id="rId17"/>
    <p:sldId id="268" r:id="rId18"/>
    <p:sldId id="269" r:id="rId19"/>
    <p:sldId id="281" r:id="rId20"/>
    <p:sldId id="270" r:id="rId21"/>
    <p:sldId id="271" r:id="rId22"/>
    <p:sldId id="272" r:id="rId23"/>
    <p:sldId id="283" r:id="rId24"/>
    <p:sldId id="273" r:id="rId25"/>
    <p:sldId id="274" r:id="rId26"/>
    <p:sldId id="275"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3933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EFB3B-127B-F80A-943B-2170C0773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ECE67-7542-3FDA-3047-ACA8827FE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CF331-F3D3-C45C-35CB-CDA0DF7658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D75031-66A2-CDBB-2B9E-3950A632F28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6004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DDAA8-8334-371A-F3FF-9D3F5C5DB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09AA9-6BAF-8485-05BE-FDFB6AB98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5D26B-E112-112B-FB92-D138B1BBD6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7B88D3-AAC4-D21A-2074-DB85AA90425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321527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4067-96B4-76F5-5EE6-AA65D2453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5FC1B-CB52-EC7D-2CFC-FCB1B16606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CD7FA2-FD37-2307-9B41-D4365FC874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DC925A-62B0-B3EA-C4F6-556959ADC70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811046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7B83E-6DF3-5CE5-C315-FB2A63AB9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D3B4E-F803-95AC-2B71-D7B73AAB4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09B7A-8FAA-CBAA-2BC6-7AEF43C720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909F8D-91F0-ADE3-A788-93C8C847A13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46522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87C7D-EEB4-493D-F5C8-2E8BEA0BC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845E3-C5B1-E1D8-E317-2450B1E99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A7E42-E366-F342-DED8-262B7AA78F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49BB4-EDE8-33E2-E648-87FB23AC19D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06979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2659D5C-FD54-2C59-F1AC-4572C98054AB}"/>
              </a:ext>
            </a:extLst>
          </p:cNvPr>
          <p:cNvPicPr>
            <a:picLocks noChangeAspect="1"/>
          </p:cNvPicPr>
          <p:nvPr/>
        </p:nvPicPr>
        <p:blipFill>
          <a:blip r:embed="rId3"/>
          <a:srcRect t="29670" r="-1" b="-1"/>
          <a:stretch>
            <a:fillRect/>
          </a:stretch>
        </p:blipFill>
        <p:spPr>
          <a:xfrm>
            <a:off x="-132079" y="-342897"/>
            <a:ext cx="10179162" cy="5727211"/>
          </a:xfrm>
          <a:prstGeom prst="rect">
            <a:avLst/>
          </a:prstGeom>
        </p:spPr>
      </p:pic>
      <p:sp>
        <p:nvSpPr>
          <p:cNvPr id="5" name="Shape 3"/>
          <p:cNvSpPr/>
          <p:nvPr/>
        </p:nvSpPr>
        <p:spPr>
          <a:xfrm>
            <a:off x="7223760" y="2560320"/>
            <a:ext cx="2286000" cy="2286000"/>
          </a:xfrm>
          <a:prstGeom prst="ellipse">
            <a:avLst/>
          </a:prstGeom>
          <a:solidFill>
            <a:srgbClr val="00A896">
              <a:alpha val="15000"/>
            </a:srgbClr>
          </a:solidFill>
          <a:ln w="12700">
            <a:solidFill>
              <a:srgbClr val="00A896">
                <a:alpha val="15000"/>
              </a:srgbClr>
            </a:solidFill>
            <a:prstDash val="solid"/>
          </a:ln>
        </p:spPr>
        <p:txBody>
          <a:bodyPr/>
          <a:lstStyle/>
          <a:p>
            <a:endParaRPr lang="en-US"/>
          </a:p>
        </p:txBody>
      </p:sp>
      <p:sp>
        <p:nvSpPr>
          <p:cNvPr id="6" name="Shape 4"/>
          <p:cNvSpPr/>
          <p:nvPr/>
        </p:nvSpPr>
        <p:spPr>
          <a:xfrm>
            <a:off x="164592" y="54864"/>
            <a:ext cx="2194560" cy="438912"/>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164592" y="70104"/>
            <a:ext cx="219456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UGBS · OMIS 405  Group 3</a:t>
            </a:r>
            <a:endParaRPr lang="en-US" sz="1200" dirty="0"/>
          </a:p>
        </p:txBody>
      </p:sp>
      <p:sp>
        <p:nvSpPr>
          <p:cNvPr id="8" name="Text 6"/>
          <p:cNvSpPr/>
          <p:nvPr/>
        </p:nvSpPr>
        <p:spPr>
          <a:xfrm>
            <a:off x="164592" y="562864"/>
            <a:ext cx="4407408" cy="2377440"/>
          </a:xfrm>
          <a:prstGeom prst="rect">
            <a:avLst/>
          </a:prstGeom>
          <a:noFill/>
          <a:ln/>
        </p:spPr>
        <p:txBody>
          <a:bodyPr wrap="square" rtlCol="0" anchor="t"/>
          <a:lstStyle/>
          <a:p>
            <a:pPr marL="0" indent="0" algn="l">
              <a:buNone/>
            </a:pPr>
            <a:r>
              <a:rPr lang="en-US" sz="4000" b="1" dirty="0">
                <a:latin typeface="Trebuchet MS" pitchFamily="34" charset="0"/>
                <a:ea typeface="Trebuchet MS" pitchFamily="34" charset="-122"/>
                <a:cs typeface="Trebuchet MS" pitchFamily="34" charset="-120"/>
              </a:rPr>
              <a:t>Automatic Text</a:t>
            </a:r>
            <a:endParaRPr lang="en-US" sz="4000" dirty="0"/>
          </a:p>
          <a:p>
            <a:pPr marL="0" indent="0" algn="l">
              <a:buNone/>
            </a:pPr>
            <a:r>
              <a:rPr lang="en-US" sz="4000" b="1" dirty="0">
                <a:latin typeface="Trebuchet MS" pitchFamily="34" charset="0"/>
                <a:ea typeface="Trebuchet MS" pitchFamily="34" charset="-122"/>
                <a:cs typeface="Trebuchet MS" pitchFamily="34" charset="-120"/>
              </a:rPr>
              <a:t>Summarisation of</a:t>
            </a:r>
            <a:endParaRPr lang="en-US" sz="4000" dirty="0"/>
          </a:p>
          <a:p>
            <a:pPr marL="0" indent="0" algn="l">
              <a:buNone/>
            </a:pPr>
            <a:r>
              <a:rPr lang="en-US" sz="4000" b="1" dirty="0">
                <a:latin typeface="Trebuchet MS" pitchFamily="34" charset="0"/>
                <a:ea typeface="Trebuchet MS" pitchFamily="34" charset="-122"/>
                <a:cs typeface="Trebuchet MS" pitchFamily="34" charset="-120"/>
              </a:rPr>
              <a:t>HOD Research Papers</a:t>
            </a:r>
            <a:endParaRPr lang="en-US" sz="4000" dirty="0"/>
          </a:p>
        </p:txBody>
      </p:sp>
      <p:sp>
        <p:nvSpPr>
          <p:cNvPr id="9" name="Text 7"/>
          <p:cNvSpPr/>
          <p:nvPr/>
        </p:nvSpPr>
        <p:spPr>
          <a:xfrm>
            <a:off x="164592" y="3337560"/>
            <a:ext cx="2631440" cy="822960"/>
          </a:xfrm>
          <a:prstGeom prst="rect">
            <a:avLst/>
          </a:prstGeom>
          <a:noFill/>
          <a:ln/>
        </p:spPr>
        <p:txBody>
          <a:bodyPr wrap="square" rtlCol="0" anchor="ctr"/>
          <a:lstStyle/>
          <a:p>
            <a:pPr marL="0" indent="0" algn="l">
              <a:buNone/>
            </a:pPr>
            <a:r>
              <a:rPr lang="en-US" sz="1400" dirty="0">
                <a:latin typeface="Calibri" pitchFamily="34" charset="0"/>
                <a:ea typeface="Calibri" pitchFamily="34" charset="-122"/>
                <a:cs typeface="Calibri" pitchFamily="34" charset="-120"/>
              </a:rPr>
              <a:t>NLP-Driven Analysis of Research Themes, Methods &amp; Collaborations</a:t>
            </a:r>
            <a:endParaRPr lang="en-US" sz="1400" dirty="0"/>
          </a:p>
          <a:p>
            <a:pPr marL="0" indent="0" algn="l">
              <a:buNone/>
            </a:pPr>
            <a:r>
              <a:rPr lang="en-US" sz="1400" dirty="0">
                <a:latin typeface="Calibri" pitchFamily="34" charset="0"/>
                <a:ea typeface="Calibri" pitchFamily="34" charset="-122"/>
                <a:cs typeface="Calibri" pitchFamily="34" charset="-120"/>
              </a:rPr>
              <a:t>Across 7 Departments · 140 Papers · 3 Summarisation Models</a:t>
            </a:r>
            <a:endParaRPr lang="en-US" sz="1400" dirty="0"/>
          </a:p>
        </p:txBody>
      </p:sp>
      <p:sp>
        <p:nvSpPr>
          <p:cNvPr id="10" name="Shape 8"/>
          <p:cNvSpPr/>
          <p:nvPr/>
        </p:nvSpPr>
        <p:spPr>
          <a:xfrm>
            <a:off x="-304800" y="4765040"/>
            <a:ext cx="10351883" cy="388620"/>
          </a:xfrm>
          <a:prstGeom prst="rect">
            <a:avLst/>
          </a:prstGeom>
          <a:solidFill>
            <a:srgbClr val="028090"/>
          </a:solidFill>
          <a:ln w="12700">
            <a:solidFill>
              <a:srgbClr val="028090"/>
            </a:solidFill>
            <a:prstDash val="solid"/>
          </a:ln>
        </p:spPr>
        <p:txBody>
          <a:bodyPr/>
          <a:lstStyle/>
          <a:p>
            <a:endParaRPr lang="en-US" dirty="0"/>
          </a:p>
        </p:txBody>
      </p:sp>
      <p:sp>
        <p:nvSpPr>
          <p:cNvPr id="11" name="Text 9"/>
          <p:cNvSpPr/>
          <p:nvPr/>
        </p:nvSpPr>
        <p:spPr>
          <a:xfrm>
            <a:off x="457200" y="4754880"/>
            <a:ext cx="8412480" cy="38862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Group 3   -  Roderick  |  Jonathan  | Williams |  Haziel  | Samed</a:t>
            </a:r>
            <a:endParaRPr lang="en-US" sz="1100" dirty="0"/>
          </a:p>
        </p:txBody>
      </p:sp>
      <p:sp>
        <p:nvSpPr>
          <p:cNvPr id="4" name="Shape 2"/>
          <p:cNvSpPr/>
          <p:nvPr/>
        </p:nvSpPr>
        <p:spPr>
          <a:xfrm>
            <a:off x="7086600" y="-800100"/>
            <a:ext cx="3200400" cy="3200400"/>
          </a:xfrm>
          <a:prstGeom prst="ellipse">
            <a:avLst/>
          </a:prstGeom>
          <a:solidFill>
            <a:srgbClr val="028090">
              <a:alpha val="18000"/>
            </a:srgbClr>
          </a:solidFill>
          <a:ln w="12700">
            <a:solidFill>
              <a:srgbClr val="028090">
                <a:alpha val="18000"/>
              </a:srgbClr>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Table of Contents</a:t>
            </a:r>
            <a:endParaRPr lang="en-US" sz="2600" dirty="0"/>
          </a:p>
        </p:txBody>
      </p:sp>
      <p:sp>
        <p:nvSpPr>
          <p:cNvPr id="4" name="Shape 2"/>
          <p:cNvSpPr/>
          <p:nvPr/>
        </p:nvSpPr>
        <p:spPr>
          <a:xfrm>
            <a:off x="0" y="822960"/>
            <a:ext cx="64008" cy="4320540"/>
          </a:xfrm>
          <a:prstGeom prst="rect">
            <a:avLst/>
          </a:prstGeom>
          <a:solidFill>
            <a:srgbClr val="028090"/>
          </a:solidFill>
          <a:ln w="12700">
            <a:solidFill>
              <a:srgbClr val="028090"/>
            </a:solidFill>
            <a:prstDash val="solid"/>
          </a:ln>
        </p:spPr>
        <p:txBody>
          <a:bodyPr/>
          <a:lstStyle/>
          <a:p>
            <a:endParaRPr lang="en-US"/>
          </a:p>
        </p:txBody>
      </p:sp>
      <p:sp>
        <p:nvSpPr>
          <p:cNvPr id="5" name="Shape 3"/>
          <p:cNvSpPr/>
          <p:nvPr/>
        </p:nvSpPr>
        <p:spPr>
          <a:xfrm>
            <a:off x="228600" y="960120"/>
            <a:ext cx="502920" cy="384048"/>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228600" y="96012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01</a:t>
            </a:r>
            <a:endParaRPr lang="en-US" sz="1300" dirty="0"/>
          </a:p>
        </p:txBody>
      </p:sp>
      <p:sp>
        <p:nvSpPr>
          <p:cNvPr id="7" name="Text 5"/>
          <p:cNvSpPr/>
          <p:nvPr/>
        </p:nvSpPr>
        <p:spPr>
          <a:xfrm>
            <a:off x="822960" y="996696"/>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Introduction &amp; Study Overview</a:t>
            </a:r>
            <a:endParaRPr lang="en-US" sz="1250" dirty="0"/>
          </a:p>
        </p:txBody>
      </p:sp>
      <p:sp>
        <p:nvSpPr>
          <p:cNvPr id="8" name="Shape 6"/>
          <p:cNvSpPr/>
          <p:nvPr/>
        </p:nvSpPr>
        <p:spPr>
          <a:xfrm>
            <a:off x="228600" y="1527048"/>
            <a:ext cx="502920" cy="384048"/>
          </a:xfrm>
          <a:prstGeom prst="rect">
            <a:avLst/>
          </a:prstGeom>
          <a:solidFill>
            <a:srgbClr val="028090"/>
          </a:solidFill>
          <a:ln w="12700">
            <a:solidFill>
              <a:srgbClr val="028090"/>
            </a:solidFill>
            <a:prstDash val="solid"/>
          </a:ln>
        </p:spPr>
        <p:txBody>
          <a:bodyPr/>
          <a:lstStyle/>
          <a:p>
            <a:endParaRPr lang="en-US"/>
          </a:p>
        </p:txBody>
      </p:sp>
      <p:sp>
        <p:nvSpPr>
          <p:cNvPr id="9" name="Text 7"/>
          <p:cNvSpPr/>
          <p:nvPr/>
        </p:nvSpPr>
        <p:spPr>
          <a:xfrm>
            <a:off x="228600" y="1527048"/>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02</a:t>
            </a:r>
            <a:endParaRPr lang="en-US" sz="1300" dirty="0"/>
          </a:p>
        </p:txBody>
      </p:sp>
      <p:sp>
        <p:nvSpPr>
          <p:cNvPr id="10" name="Text 8"/>
          <p:cNvSpPr/>
          <p:nvPr/>
        </p:nvSpPr>
        <p:spPr>
          <a:xfrm>
            <a:off x="822960" y="1563624"/>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Methodology — Data Collection &amp; NLP Pipeline</a:t>
            </a:r>
            <a:endParaRPr lang="en-US" sz="1250" dirty="0"/>
          </a:p>
        </p:txBody>
      </p:sp>
      <p:sp>
        <p:nvSpPr>
          <p:cNvPr id="11" name="Shape 9"/>
          <p:cNvSpPr/>
          <p:nvPr/>
        </p:nvSpPr>
        <p:spPr>
          <a:xfrm>
            <a:off x="228600" y="2093976"/>
            <a:ext cx="502920" cy="384048"/>
          </a:xfrm>
          <a:prstGeom prst="rect">
            <a:avLst/>
          </a:prstGeom>
          <a:solidFill>
            <a:srgbClr val="028090"/>
          </a:solidFill>
          <a:ln w="12700">
            <a:solidFill>
              <a:srgbClr val="028090"/>
            </a:solidFill>
            <a:prstDash val="solid"/>
          </a:ln>
        </p:spPr>
        <p:txBody>
          <a:bodyPr/>
          <a:lstStyle/>
          <a:p>
            <a:endParaRPr lang="en-US"/>
          </a:p>
        </p:txBody>
      </p:sp>
      <p:sp>
        <p:nvSpPr>
          <p:cNvPr id="12" name="Text 10"/>
          <p:cNvSpPr/>
          <p:nvPr/>
        </p:nvSpPr>
        <p:spPr>
          <a:xfrm>
            <a:off x="228600" y="2093976"/>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03</a:t>
            </a:r>
            <a:endParaRPr lang="en-US" sz="1300" dirty="0"/>
          </a:p>
        </p:txBody>
      </p:sp>
      <p:sp>
        <p:nvSpPr>
          <p:cNvPr id="13" name="Text 11"/>
          <p:cNvSpPr/>
          <p:nvPr/>
        </p:nvSpPr>
        <p:spPr>
          <a:xfrm>
            <a:off x="822960" y="2130552"/>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NLP Model Comparison (LDA · BERTopic · T5/BART)</a:t>
            </a:r>
            <a:endParaRPr lang="en-US" sz="1250" dirty="0"/>
          </a:p>
        </p:txBody>
      </p:sp>
      <p:sp>
        <p:nvSpPr>
          <p:cNvPr id="14" name="Shape 12"/>
          <p:cNvSpPr/>
          <p:nvPr/>
        </p:nvSpPr>
        <p:spPr>
          <a:xfrm>
            <a:off x="228600" y="2660904"/>
            <a:ext cx="502920" cy="384048"/>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228600" y="2660904"/>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04</a:t>
            </a:r>
            <a:endParaRPr lang="en-US" sz="1300" dirty="0"/>
          </a:p>
        </p:txBody>
      </p:sp>
      <p:sp>
        <p:nvSpPr>
          <p:cNvPr id="16" name="Text 14"/>
          <p:cNvSpPr/>
          <p:nvPr/>
        </p:nvSpPr>
        <p:spPr>
          <a:xfrm>
            <a:off x="822960" y="2697480"/>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Accuracy Validation &amp; Quality Assessment</a:t>
            </a:r>
            <a:endParaRPr lang="en-US" sz="1250" dirty="0"/>
          </a:p>
        </p:txBody>
      </p:sp>
      <p:sp>
        <p:nvSpPr>
          <p:cNvPr id="17" name="Shape 15"/>
          <p:cNvSpPr/>
          <p:nvPr/>
        </p:nvSpPr>
        <p:spPr>
          <a:xfrm>
            <a:off x="228600" y="3227832"/>
            <a:ext cx="502920" cy="384048"/>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228600" y="3227832"/>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05</a:t>
            </a:r>
            <a:endParaRPr lang="en-US" sz="1300" dirty="0"/>
          </a:p>
        </p:txBody>
      </p:sp>
      <p:sp>
        <p:nvSpPr>
          <p:cNvPr id="19" name="Text 17"/>
          <p:cNvSpPr/>
          <p:nvPr/>
        </p:nvSpPr>
        <p:spPr>
          <a:xfrm>
            <a:off x="822960" y="3264408"/>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HOD Research Profiles &amp; Summaries</a:t>
            </a:r>
            <a:endParaRPr lang="en-US" sz="1250" dirty="0"/>
          </a:p>
        </p:txBody>
      </p:sp>
      <p:sp>
        <p:nvSpPr>
          <p:cNvPr id="20" name="Shape 18"/>
          <p:cNvSpPr/>
          <p:nvPr/>
        </p:nvSpPr>
        <p:spPr>
          <a:xfrm>
            <a:off x="228600" y="3794760"/>
            <a:ext cx="502920" cy="384048"/>
          </a:xfrm>
          <a:prstGeom prst="rect">
            <a:avLst/>
          </a:prstGeom>
          <a:solidFill>
            <a:srgbClr val="028090"/>
          </a:solidFill>
          <a:ln w="12700">
            <a:solidFill>
              <a:srgbClr val="028090"/>
            </a:solidFill>
            <a:prstDash val="solid"/>
          </a:ln>
        </p:spPr>
        <p:txBody>
          <a:bodyPr/>
          <a:lstStyle/>
          <a:p>
            <a:endParaRPr lang="en-US"/>
          </a:p>
        </p:txBody>
      </p:sp>
      <p:sp>
        <p:nvSpPr>
          <p:cNvPr id="21" name="Text 19"/>
          <p:cNvSpPr/>
          <p:nvPr/>
        </p:nvSpPr>
        <p:spPr>
          <a:xfrm>
            <a:off x="228600" y="379476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06</a:t>
            </a:r>
            <a:endParaRPr lang="en-US" sz="1300" dirty="0"/>
          </a:p>
        </p:txBody>
      </p:sp>
      <p:sp>
        <p:nvSpPr>
          <p:cNvPr id="22" name="Text 20"/>
          <p:cNvSpPr/>
          <p:nvPr/>
        </p:nvSpPr>
        <p:spPr>
          <a:xfrm>
            <a:off x="822960" y="3831336"/>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Q(a) — Dominant Research Themes</a:t>
            </a:r>
            <a:endParaRPr lang="en-US" sz="1250" dirty="0"/>
          </a:p>
        </p:txBody>
      </p:sp>
      <p:sp>
        <p:nvSpPr>
          <p:cNvPr id="23" name="Shape 21"/>
          <p:cNvSpPr/>
          <p:nvPr/>
        </p:nvSpPr>
        <p:spPr>
          <a:xfrm>
            <a:off x="228600" y="4361688"/>
            <a:ext cx="502920" cy="384048"/>
          </a:xfrm>
          <a:prstGeom prst="rect">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228600" y="4361688"/>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07</a:t>
            </a:r>
            <a:endParaRPr lang="en-US" sz="1300" dirty="0"/>
          </a:p>
        </p:txBody>
      </p:sp>
      <p:sp>
        <p:nvSpPr>
          <p:cNvPr id="25" name="Text 23"/>
          <p:cNvSpPr/>
          <p:nvPr/>
        </p:nvSpPr>
        <p:spPr>
          <a:xfrm>
            <a:off x="822960" y="4398264"/>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Q(b) — Shared Intellectual Tradition</a:t>
            </a:r>
            <a:endParaRPr lang="en-US" sz="1250" dirty="0"/>
          </a:p>
        </p:txBody>
      </p:sp>
      <p:sp>
        <p:nvSpPr>
          <p:cNvPr id="26" name="Shape 24"/>
          <p:cNvSpPr/>
          <p:nvPr/>
        </p:nvSpPr>
        <p:spPr>
          <a:xfrm>
            <a:off x="4754880" y="960120"/>
            <a:ext cx="502920" cy="384048"/>
          </a:xfrm>
          <a:prstGeom prst="rect">
            <a:avLst/>
          </a:prstGeom>
          <a:solidFill>
            <a:srgbClr val="028090"/>
          </a:solidFill>
          <a:ln w="12700">
            <a:solidFill>
              <a:srgbClr val="028090"/>
            </a:solidFill>
            <a:prstDash val="solid"/>
          </a:ln>
        </p:spPr>
        <p:txBody>
          <a:bodyPr/>
          <a:lstStyle/>
          <a:p>
            <a:endParaRPr lang="en-US"/>
          </a:p>
        </p:txBody>
      </p:sp>
      <p:sp>
        <p:nvSpPr>
          <p:cNvPr id="27" name="Text 25"/>
          <p:cNvSpPr/>
          <p:nvPr/>
        </p:nvSpPr>
        <p:spPr>
          <a:xfrm>
            <a:off x="4754880" y="96012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08</a:t>
            </a:r>
            <a:endParaRPr lang="en-US" sz="1300" dirty="0"/>
          </a:p>
        </p:txBody>
      </p:sp>
      <p:sp>
        <p:nvSpPr>
          <p:cNvPr id="28" name="Text 26"/>
          <p:cNvSpPr/>
          <p:nvPr/>
        </p:nvSpPr>
        <p:spPr>
          <a:xfrm>
            <a:off x="5349240" y="996696"/>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Q(c) — Applied vs Theoretical Orientation</a:t>
            </a:r>
            <a:endParaRPr lang="en-US" sz="1250" dirty="0"/>
          </a:p>
        </p:txBody>
      </p:sp>
      <p:sp>
        <p:nvSpPr>
          <p:cNvPr id="29" name="Shape 27"/>
          <p:cNvSpPr/>
          <p:nvPr/>
        </p:nvSpPr>
        <p:spPr>
          <a:xfrm>
            <a:off x="4754880" y="1527048"/>
            <a:ext cx="502920" cy="384048"/>
          </a:xfrm>
          <a:prstGeom prst="rect">
            <a:avLst/>
          </a:prstGeom>
          <a:solidFill>
            <a:srgbClr val="028090"/>
          </a:solidFill>
          <a:ln w="12700">
            <a:solidFill>
              <a:srgbClr val="028090"/>
            </a:solidFill>
            <a:prstDash val="solid"/>
          </a:ln>
        </p:spPr>
        <p:txBody>
          <a:bodyPr/>
          <a:lstStyle/>
          <a:p>
            <a:endParaRPr lang="en-US"/>
          </a:p>
        </p:txBody>
      </p:sp>
      <p:sp>
        <p:nvSpPr>
          <p:cNvPr id="30" name="Text 28"/>
          <p:cNvSpPr/>
          <p:nvPr/>
        </p:nvSpPr>
        <p:spPr>
          <a:xfrm>
            <a:off x="4754880" y="1527048"/>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09</a:t>
            </a:r>
            <a:endParaRPr lang="en-US" sz="1300" dirty="0"/>
          </a:p>
        </p:txBody>
      </p:sp>
      <p:sp>
        <p:nvSpPr>
          <p:cNvPr id="31" name="Text 29"/>
          <p:cNvSpPr/>
          <p:nvPr/>
        </p:nvSpPr>
        <p:spPr>
          <a:xfrm>
            <a:off x="5349240" y="1563624"/>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Q(d) — Preferred Research Methods</a:t>
            </a:r>
            <a:endParaRPr lang="en-US" sz="1250" dirty="0"/>
          </a:p>
        </p:txBody>
      </p:sp>
      <p:sp>
        <p:nvSpPr>
          <p:cNvPr id="32" name="Shape 30"/>
          <p:cNvSpPr/>
          <p:nvPr/>
        </p:nvSpPr>
        <p:spPr>
          <a:xfrm>
            <a:off x="4754880" y="2093976"/>
            <a:ext cx="502920" cy="384048"/>
          </a:xfrm>
          <a:prstGeom prst="rect">
            <a:avLst/>
          </a:prstGeom>
          <a:solidFill>
            <a:srgbClr val="028090"/>
          </a:solidFill>
          <a:ln w="12700">
            <a:solidFill>
              <a:srgbClr val="028090"/>
            </a:solidFill>
            <a:prstDash val="solid"/>
          </a:ln>
        </p:spPr>
        <p:txBody>
          <a:bodyPr/>
          <a:lstStyle/>
          <a:p>
            <a:endParaRPr lang="en-US"/>
          </a:p>
        </p:txBody>
      </p:sp>
      <p:sp>
        <p:nvSpPr>
          <p:cNvPr id="33" name="Text 31"/>
          <p:cNvSpPr/>
          <p:nvPr/>
        </p:nvSpPr>
        <p:spPr>
          <a:xfrm>
            <a:off x="4754880" y="2093976"/>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10</a:t>
            </a:r>
            <a:endParaRPr lang="en-US" sz="1300" dirty="0"/>
          </a:p>
        </p:txBody>
      </p:sp>
      <p:sp>
        <p:nvSpPr>
          <p:cNvPr id="34" name="Text 32"/>
          <p:cNvSpPr/>
          <p:nvPr/>
        </p:nvSpPr>
        <p:spPr>
          <a:xfrm>
            <a:off x="5349240" y="2130552"/>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Q(e) — Emerging Hot Topics</a:t>
            </a:r>
            <a:endParaRPr lang="en-US" sz="1250" dirty="0"/>
          </a:p>
        </p:txBody>
      </p:sp>
      <p:sp>
        <p:nvSpPr>
          <p:cNvPr id="35" name="Shape 33"/>
          <p:cNvSpPr/>
          <p:nvPr/>
        </p:nvSpPr>
        <p:spPr>
          <a:xfrm>
            <a:off x="4754880" y="2660904"/>
            <a:ext cx="502920" cy="384048"/>
          </a:xfrm>
          <a:prstGeom prst="rect">
            <a:avLst/>
          </a:prstGeom>
          <a:solidFill>
            <a:srgbClr val="028090"/>
          </a:solidFill>
          <a:ln w="12700">
            <a:solidFill>
              <a:srgbClr val="028090"/>
            </a:solidFill>
            <a:prstDash val="solid"/>
          </a:ln>
        </p:spPr>
        <p:txBody>
          <a:bodyPr/>
          <a:lstStyle/>
          <a:p>
            <a:endParaRPr lang="en-US"/>
          </a:p>
        </p:txBody>
      </p:sp>
      <p:sp>
        <p:nvSpPr>
          <p:cNvPr id="36" name="Text 34"/>
          <p:cNvSpPr/>
          <p:nvPr/>
        </p:nvSpPr>
        <p:spPr>
          <a:xfrm>
            <a:off x="4754880" y="2660904"/>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11</a:t>
            </a:r>
            <a:endParaRPr lang="en-US" sz="1300" dirty="0"/>
          </a:p>
        </p:txBody>
      </p:sp>
      <p:sp>
        <p:nvSpPr>
          <p:cNvPr id="37" name="Text 35"/>
          <p:cNvSpPr/>
          <p:nvPr/>
        </p:nvSpPr>
        <p:spPr>
          <a:xfrm>
            <a:off x="5349240" y="2697480"/>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Q(f) — Cross-HOD Collaboration &amp; Overlaps</a:t>
            </a:r>
            <a:endParaRPr lang="en-US" sz="1250" dirty="0"/>
          </a:p>
        </p:txBody>
      </p:sp>
      <p:sp>
        <p:nvSpPr>
          <p:cNvPr id="38" name="Shape 36"/>
          <p:cNvSpPr/>
          <p:nvPr/>
        </p:nvSpPr>
        <p:spPr>
          <a:xfrm>
            <a:off x="4754880" y="3227832"/>
            <a:ext cx="502920" cy="384048"/>
          </a:xfrm>
          <a:prstGeom prst="rect">
            <a:avLst/>
          </a:prstGeom>
          <a:solidFill>
            <a:srgbClr val="028090"/>
          </a:solidFill>
          <a:ln w="12700">
            <a:solidFill>
              <a:srgbClr val="028090"/>
            </a:solidFill>
            <a:prstDash val="solid"/>
          </a:ln>
        </p:spPr>
        <p:txBody>
          <a:bodyPr/>
          <a:lstStyle/>
          <a:p>
            <a:endParaRPr lang="en-US"/>
          </a:p>
        </p:txBody>
      </p:sp>
      <p:sp>
        <p:nvSpPr>
          <p:cNvPr id="39" name="Text 37"/>
          <p:cNvSpPr/>
          <p:nvPr/>
        </p:nvSpPr>
        <p:spPr>
          <a:xfrm>
            <a:off x="4754880" y="3227832"/>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12</a:t>
            </a:r>
            <a:endParaRPr lang="en-US" sz="1300" dirty="0"/>
          </a:p>
        </p:txBody>
      </p:sp>
      <p:sp>
        <p:nvSpPr>
          <p:cNvPr id="40" name="Text 38"/>
          <p:cNvSpPr/>
          <p:nvPr/>
        </p:nvSpPr>
        <p:spPr>
          <a:xfrm>
            <a:off x="5349240" y="3264408"/>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HOD Comparison Summary Table</a:t>
            </a:r>
            <a:endParaRPr lang="en-US" sz="1250" dirty="0"/>
          </a:p>
        </p:txBody>
      </p:sp>
      <p:sp>
        <p:nvSpPr>
          <p:cNvPr id="41" name="Shape 39"/>
          <p:cNvSpPr/>
          <p:nvPr/>
        </p:nvSpPr>
        <p:spPr>
          <a:xfrm>
            <a:off x="4754880" y="3794760"/>
            <a:ext cx="502920" cy="384048"/>
          </a:xfrm>
          <a:prstGeom prst="rect">
            <a:avLst/>
          </a:prstGeom>
          <a:solidFill>
            <a:srgbClr val="028090"/>
          </a:solidFill>
          <a:ln w="12700">
            <a:solidFill>
              <a:srgbClr val="028090"/>
            </a:solidFill>
            <a:prstDash val="solid"/>
          </a:ln>
        </p:spPr>
        <p:txBody>
          <a:bodyPr/>
          <a:lstStyle/>
          <a:p>
            <a:endParaRPr lang="en-US"/>
          </a:p>
        </p:txBody>
      </p:sp>
      <p:sp>
        <p:nvSpPr>
          <p:cNvPr id="42" name="Text 40"/>
          <p:cNvSpPr/>
          <p:nvPr/>
        </p:nvSpPr>
        <p:spPr>
          <a:xfrm>
            <a:off x="4754880" y="379476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13</a:t>
            </a:r>
            <a:endParaRPr lang="en-US" sz="1300" dirty="0"/>
          </a:p>
        </p:txBody>
      </p:sp>
      <p:sp>
        <p:nvSpPr>
          <p:cNvPr id="43" name="Text 41"/>
          <p:cNvSpPr/>
          <p:nvPr/>
        </p:nvSpPr>
        <p:spPr>
          <a:xfrm>
            <a:off x="5349240" y="3831336"/>
            <a:ext cx="3931920" cy="384048"/>
          </a:xfrm>
          <a:prstGeom prst="rect">
            <a:avLst/>
          </a:prstGeom>
          <a:noFill/>
          <a:ln/>
        </p:spPr>
        <p:txBody>
          <a:bodyPr wrap="square" rtlCol="0" anchor="ctr"/>
          <a:lstStyle/>
          <a:p>
            <a:pPr marL="0" indent="0">
              <a:buNone/>
            </a:pPr>
            <a:r>
              <a:rPr lang="en-US" sz="1250" dirty="0">
                <a:solidFill>
                  <a:srgbClr val="334155"/>
                </a:solidFill>
                <a:latin typeface="Calibri" pitchFamily="34" charset="0"/>
                <a:ea typeface="Calibri" pitchFamily="34" charset="-122"/>
                <a:cs typeface="Calibri" pitchFamily="34" charset="-120"/>
              </a:rPr>
              <a:t>Key Findings &amp; Conclusions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01 · Introduction &amp; Study Overview</a:t>
            </a:r>
            <a:endParaRPr lang="en-US" sz="2400" dirty="0"/>
          </a:p>
        </p:txBody>
      </p:sp>
      <p:sp>
        <p:nvSpPr>
          <p:cNvPr id="4" name="Shape 2"/>
          <p:cNvSpPr/>
          <p:nvPr/>
        </p:nvSpPr>
        <p:spPr>
          <a:xfrm>
            <a:off x="274320" y="960120"/>
            <a:ext cx="3931920" cy="3749040"/>
          </a:xfrm>
          <a:prstGeom prst="rect">
            <a:avLst/>
          </a:prstGeom>
          <a:solidFill>
            <a:srgbClr val="E0F2F7"/>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5" name="Shape 3"/>
          <p:cNvSpPr/>
          <p:nvPr/>
        </p:nvSpPr>
        <p:spPr>
          <a:xfrm>
            <a:off x="274320" y="960120"/>
            <a:ext cx="3931920" cy="438912"/>
          </a:xfrm>
          <a:prstGeom prst="rect">
            <a:avLst/>
          </a:prstGeom>
          <a:solidFill>
            <a:srgbClr val="1B3A6B"/>
          </a:solidFill>
          <a:ln w="12700">
            <a:solidFill>
              <a:srgbClr val="1B3A6B"/>
            </a:solidFill>
            <a:prstDash val="solid"/>
          </a:ln>
        </p:spPr>
        <p:txBody>
          <a:bodyPr/>
          <a:lstStyle/>
          <a:p>
            <a:endParaRPr lang="en-US"/>
          </a:p>
        </p:txBody>
      </p:sp>
      <p:sp>
        <p:nvSpPr>
          <p:cNvPr id="6" name="Text 4"/>
          <p:cNvSpPr/>
          <p:nvPr/>
        </p:nvSpPr>
        <p:spPr>
          <a:xfrm>
            <a:off x="274320" y="960120"/>
            <a:ext cx="393192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Background</a:t>
            </a:r>
            <a:endParaRPr lang="en-US" sz="1400" dirty="0"/>
          </a:p>
        </p:txBody>
      </p:sp>
      <p:sp>
        <p:nvSpPr>
          <p:cNvPr id="7" name="Text 5"/>
          <p:cNvSpPr/>
          <p:nvPr/>
        </p:nvSpPr>
        <p:spPr>
          <a:xfrm>
            <a:off x="457200" y="1463040"/>
            <a:ext cx="3566160" cy="310896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The University of Ghana Business School (UGBS) hosts 7 departments, each led by a Head of Department (HOD) who is also an active researcher.
This project applies Natural Language Processing (NLP) to automatically summarise and analyse the top-cited academic papers published by each HOD — providing a data-driven portrait of the Business School's collective intellectual identity.
A total of </a:t>
            </a:r>
            <a:r>
              <a:rPr lang="en-US" sz="1200" b="1" dirty="0">
                <a:solidFill>
                  <a:srgbClr val="028090"/>
                </a:solidFill>
                <a:latin typeface="Calibri" pitchFamily="34" charset="0"/>
                <a:ea typeface="Calibri" pitchFamily="34" charset="-122"/>
                <a:cs typeface="Calibri" pitchFamily="34" charset="-120"/>
              </a:rPr>
              <a:t>140 papers</a:t>
            </a:r>
            <a:r>
              <a:rPr lang="en-US" sz="1200" dirty="0">
                <a:solidFill>
                  <a:srgbClr val="334155"/>
                </a:solidFill>
                <a:latin typeface="Calibri" pitchFamily="34" charset="0"/>
                <a:ea typeface="Calibri" pitchFamily="34" charset="-122"/>
                <a:cs typeface="Calibri" pitchFamily="34" charset="-120"/>
              </a:rPr>
              <a:t> (20 per HOD) were processed using three NLP models: LDA, BERTopic, and T5/BART.</a:t>
            </a:r>
            <a:endParaRPr lang="en-US" sz="1200" dirty="0"/>
          </a:p>
        </p:txBody>
      </p:sp>
      <p:sp>
        <p:nvSpPr>
          <p:cNvPr id="8" name="Shape 6"/>
          <p:cNvSpPr/>
          <p:nvPr/>
        </p:nvSpPr>
        <p:spPr>
          <a:xfrm>
            <a:off x="4572000" y="1005840"/>
            <a:ext cx="2103120" cy="1554480"/>
          </a:xfrm>
          <a:prstGeom prst="rect">
            <a:avLst/>
          </a:prstGeom>
          <a:solidFill>
            <a:srgbClr val="FFFFFF"/>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US"/>
          </a:p>
        </p:txBody>
      </p:sp>
      <p:sp>
        <p:nvSpPr>
          <p:cNvPr id="9" name="Text 7"/>
          <p:cNvSpPr/>
          <p:nvPr/>
        </p:nvSpPr>
        <p:spPr>
          <a:xfrm>
            <a:off x="4572000" y="1188720"/>
            <a:ext cx="2103120" cy="822960"/>
          </a:xfrm>
          <a:prstGeom prst="rect">
            <a:avLst/>
          </a:prstGeom>
          <a:noFill/>
          <a:ln/>
        </p:spPr>
        <p:txBody>
          <a:bodyPr wrap="square" rtlCol="0" anchor="ctr"/>
          <a:lstStyle/>
          <a:p>
            <a:pPr marL="0" indent="0" algn="ctr">
              <a:buNone/>
            </a:pPr>
            <a:r>
              <a:rPr lang="en-US" sz="4400" b="1" dirty="0">
                <a:solidFill>
                  <a:srgbClr val="028090"/>
                </a:solidFill>
                <a:latin typeface="Trebuchet MS" pitchFamily="34" charset="0"/>
                <a:ea typeface="Trebuchet MS" pitchFamily="34" charset="-122"/>
                <a:cs typeface="Trebuchet MS" pitchFamily="34" charset="-120"/>
              </a:rPr>
              <a:t>7</a:t>
            </a:r>
            <a:endParaRPr lang="en-US" sz="4400" dirty="0"/>
          </a:p>
        </p:txBody>
      </p:sp>
      <p:sp>
        <p:nvSpPr>
          <p:cNvPr id="10" name="Text 8"/>
          <p:cNvSpPr/>
          <p:nvPr/>
        </p:nvSpPr>
        <p:spPr>
          <a:xfrm>
            <a:off x="4572000" y="2011680"/>
            <a:ext cx="210312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Departments &amp; HODs</a:t>
            </a:r>
            <a:endParaRPr lang="en-US" sz="1100" dirty="0"/>
          </a:p>
        </p:txBody>
      </p:sp>
      <p:sp>
        <p:nvSpPr>
          <p:cNvPr id="11" name="Shape 9"/>
          <p:cNvSpPr/>
          <p:nvPr/>
        </p:nvSpPr>
        <p:spPr>
          <a:xfrm>
            <a:off x="4572000" y="2743200"/>
            <a:ext cx="2103120" cy="1554480"/>
          </a:xfrm>
          <a:prstGeom prst="rect">
            <a:avLst/>
          </a:prstGeom>
          <a:solidFill>
            <a:srgbClr val="FFFFFF"/>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US"/>
          </a:p>
        </p:txBody>
      </p:sp>
      <p:sp>
        <p:nvSpPr>
          <p:cNvPr id="12" name="Text 10"/>
          <p:cNvSpPr/>
          <p:nvPr/>
        </p:nvSpPr>
        <p:spPr>
          <a:xfrm>
            <a:off x="4572000" y="2926080"/>
            <a:ext cx="2103120" cy="822960"/>
          </a:xfrm>
          <a:prstGeom prst="rect">
            <a:avLst/>
          </a:prstGeom>
          <a:noFill/>
          <a:ln/>
        </p:spPr>
        <p:txBody>
          <a:bodyPr wrap="square" rtlCol="0" anchor="ctr"/>
          <a:lstStyle/>
          <a:p>
            <a:pPr marL="0" indent="0" algn="ctr">
              <a:buNone/>
            </a:pPr>
            <a:r>
              <a:rPr lang="en-US" sz="4400" b="1" dirty="0">
                <a:solidFill>
                  <a:srgbClr val="028090"/>
                </a:solidFill>
                <a:latin typeface="Trebuchet MS" pitchFamily="34" charset="0"/>
                <a:ea typeface="Trebuchet MS" pitchFamily="34" charset="-122"/>
                <a:cs typeface="Trebuchet MS" pitchFamily="34" charset="-120"/>
              </a:rPr>
              <a:t>140</a:t>
            </a:r>
            <a:endParaRPr lang="en-US" sz="4400" dirty="0"/>
          </a:p>
        </p:txBody>
      </p:sp>
      <p:sp>
        <p:nvSpPr>
          <p:cNvPr id="13" name="Text 11"/>
          <p:cNvSpPr/>
          <p:nvPr/>
        </p:nvSpPr>
        <p:spPr>
          <a:xfrm>
            <a:off x="4572000" y="3749040"/>
            <a:ext cx="210312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Papers Processed</a:t>
            </a:r>
            <a:endParaRPr lang="en-US" sz="1100" dirty="0"/>
          </a:p>
        </p:txBody>
      </p:sp>
      <p:sp>
        <p:nvSpPr>
          <p:cNvPr id="14" name="Shape 12"/>
          <p:cNvSpPr/>
          <p:nvPr/>
        </p:nvSpPr>
        <p:spPr>
          <a:xfrm>
            <a:off x="6903720" y="1005840"/>
            <a:ext cx="2103120" cy="1554480"/>
          </a:xfrm>
          <a:prstGeom prst="rect">
            <a:avLst/>
          </a:prstGeom>
          <a:solidFill>
            <a:srgbClr val="FFFFFF"/>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US"/>
          </a:p>
        </p:txBody>
      </p:sp>
      <p:sp>
        <p:nvSpPr>
          <p:cNvPr id="15" name="Text 13"/>
          <p:cNvSpPr/>
          <p:nvPr/>
        </p:nvSpPr>
        <p:spPr>
          <a:xfrm>
            <a:off x="6903720" y="1188720"/>
            <a:ext cx="2103120" cy="822960"/>
          </a:xfrm>
          <a:prstGeom prst="rect">
            <a:avLst/>
          </a:prstGeom>
          <a:noFill/>
          <a:ln/>
        </p:spPr>
        <p:txBody>
          <a:bodyPr wrap="square" rtlCol="0" anchor="ctr"/>
          <a:lstStyle/>
          <a:p>
            <a:pPr marL="0" indent="0" algn="ctr">
              <a:buNone/>
            </a:pPr>
            <a:r>
              <a:rPr lang="en-US" sz="4400" b="1" dirty="0">
                <a:solidFill>
                  <a:srgbClr val="028090"/>
                </a:solidFill>
                <a:latin typeface="Trebuchet MS" pitchFamily="34" charset="0"/>
                <a:ea typeface="Trebuchet MS" pitchFamily="34" charset="-122"/>
                <a:cs typeface="Trebuchet MS" pitchFamily="34" charset="-120"/>
              </a:rPr>
              <a:t>3</a:t>
            </a:r>
            <a:endParaRPr lang="en-US" sz="4400" dirty="0"/>
          </a:p>
        </p:txBody>
      </p:sp>
      <p:sp>
        <p:nvSpPr>
          <p:cNvPr id="16" name="Text 14"/>
          <p:cNvSpPr/>
          <p:nvPr/>
        </p:nvSpPr>
        <p:spPr>
          <a:xfrm>
            <a:off x="6903720" y="2011680"/>
            <a:ext cx="210312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NLP Models Compared</a:t>
            </a:r>
            <a:endParaRPr lang="en-US" sz="1100" dirty="0"/>
          </a:p>
        </p:txBody>
      </p:sp>
      <p:sp>
        <p:nvSpPr>
          <p:cNvPr id="17" name="Shape 15"/>
          <p:cNvSpPr/>
          <p:nvPr/>
        </p:nvSpPr>
        <p:spPr>
          <a:xfrm>
            <a:off x="6903720" y="2743200"/>
            <a:ext cx="2103120" cy="1554480"/>
          </a:xfrm>
          <a:prstGeom prst="rect">
            <a:avLst/>
          </a:prstGeom>
          <a:solidFill>
            <a:srgbClr val="FFFFFF"/>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US"/>
          </a:p>
        </p:txBody>
      </p:sp>
      <p:sp>
        <p:nvSpPr>
          <p:cNvPr id="18" name="Text 16"/>
          <p:cNvSpPr/>
          <p:nvPr/>
        </p:nvSpPr>
        <p:spPr>
          <a:xfrm>
            <a:off x="6903720" y="2926080"/>
            <a:ext cx="2103120" cy="822960"/>
          </a:xfrm>
          <a:prstGeom prst="rect">
            <a:avLst/>
          </a:prstGeom>
          <a:noFill/>
          <a:ln/>
        </p:spPr>
        <p:txBody>
          <a:bodyPr wrap="square" rtlCol="0" anchor="ctr"/>
          <a:lstStyle/>
          <a:p>
            <a:pPr marL="0" indent="0" algn="ctr">
              <a:buNone/>
            </a:pPr>
            <a:r>
              <a:rPr lang="en-US" sz="4400" b="1" dirty="0">
                <a:solidFill>
                  <a:srgbClr val="028090"/>
                </a:solidFill>
                <a:latin typeface="Trebuchet MS" pitchFamily="34" charset="0"/>
                <a:ea typeface="Trebuchet MS" pitchFamily="34" charset="-122"/>
                <a:cs typeface="Trebuchet MS" pitchFamily="34" charset="-120"/>
              </a:rPr>
              <a:t>21</a:t>
            </a:r>
            <a:endParaRPr lang="en-US" sz="4400" dirty="0"/>
          </a:p>
        </p:txBody>
      </p:sp>
      <p:sp>
        <p:nvSpPr>
          <p:cNvPr id="19" name="Text 17"/>
          <p:cNvSpPr/>
          <p:nvPr/>
        </p:nvSpPr>
        <p:spPr>
          <a:xfrm>
            <a:off x="6903720" y="3749040"/>
            <a:ext cx="210312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Papers Validated</a:t>
            </a:r>
            <a:endParaRPr lang="en-US" sz="1100" dirty="0"/>
          </a:p>
        </p:txBody>
      </p:sp>
      <p:sp>
        <p:nvSpPr>
          <p:cNvPr id="20" name="Shape 18"/>
          <p:cNvSpPr/>
          <p:nvPr/>
        </p:nvSpPr>
        <p:spPr>
          <a:xfrm>
            <a:off x="4434840" y="4297680"/>
            <a:ext cx="4572000" cy="640080"/>
          </a:xfrm>
          <a:prstGeom prst="rect">
            <a:avLst/>
          </a:prstGeom>
          <a:solidFill>
            <a:srgbClr val="E6F9F5"/>
          </a:solidFill>
          <a:ln w="12700">
            <a:solidFill>
              <a:srgbClr val="02C39A"/>
            </a:solidFill>
            <a:prstDash val="solid"/>
          </a:ln>
        </p:spPr>
        <p:txBody>
          <a:bodyPr/>
          <a:lstStyle/>
          <a:p>
            <a:endParaRPr lang="en-US"/>
          </a:p>
        </p:txBody>
      </p:sp>
      <p:sp>
        <p:nvSpPr>
          <p:cNvPr id="21" name="Text 19"/>
          <p:cNvSpPr/>
          <p:nvPr/>
        </p:nvSpPr>
        <p:spPr>
          <a:xfrm>
            <a:off x="4434840" y="4297680"/>
            <a:ext cx="4572000" cy="64008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6 Key Research Questions Answered (a–f)</a:t>
            </a:r>
            <a:endParaRPr lang="en-US" sz="1200" dirty="0"/>
          </a:p>
        </p:txBody>
      </p:sp>
      <p:sp>
        <p:nvSpPr>
          <p:cNvPr id="22" name="Shape 20"/>
          <p:cNvSpPr/>
          <p:nvPr/>
        </p:nvSpPr>
        <p:spPr>
          <a:xfrm>
            <a:off x="365760" y="5079819"/>
            <a:ext cx="8595360" cy="0"/>
          </a:xfrm>
          <a:prstGeom prst="line">
            <a:avLst/>
          </a:prstGeom>
          <a:noFill/>
          <a:ln w="12700">
            <a:solidFill>
              <a:srgbClr val="CBD5E1"/>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02 · Methodology — Data Collection &amp; NLP Pipeline</a:t>
            </a:r>
            <a:endParaRPr lang="en-US" sz="2200" dirty="0"/>
          </a:p>
        </p:txBody>
      </p:sp>
      <p:sp>
        <p:nvSpPr>
          <p:cNvPr id="4" name="Shape 2"/>
          <p:cNvSpPr/>
          <p:nvPr/>
        </p:nvSpPr>
        <p:spPr>
          <a:xfrm>
            <a:off x="228600" y="960120"/>
            <a:ext cx="2651760" cy="18288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5" name="Shape 3"/>
          <p:cNvSpPr/>
          <p:nvPr/>
        </p:nvSpPr>
        <p:spPr>
          <a:xfrm>
            <a:off x="228600" y="960120"/>
            <a:ext cx="2651760" cy="45720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301752" y="960120"/>
            <a:ext cx="2505456" cy="45720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STEP 1  Paper Retrieval</a:t>
            </a:r>
            <a:endParaRPr lang="en-US" sz="1100" dirty="0"/>
          </a:p>
        </p:txBody>
      </p:sp>
      <p:sp>
        <p:nvSpPr>
          <p:cNvPr id="7" name="Text 5"/>
          <p:cNvSpPr/>
          <p:nvPr/>
        </p:nvSpPr>
        <p:spPr>
          <a:xfrm>
            <a:off x="320040" y="1463040"/>
            <a:ext cx="2468880" cy="12344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Top 20 papers by citation count retrieved from Google Scholar for each of the 7 UGBS HODs (140 total). PDFs downloaded and converted to plain text (.txt) corpus files.</a:t>
            </a:r>
            <a:endParaRPr lang="en-US" sz="1050" dirty="0"/>
          </a:p>
        </p:txBody>
      </p:sp>
      <p:sp>
        <p:nvSpPr>
          <p:cNvPr id="8" name="Shape 6"/>
          <p:cNvSpPr/>
          <p:nvPr/>
        </p:nvSpPr>
        <p:spPr>
          <a:xfrm>
            <a:off x="3136392" y="960120"/>
            <a:ext cx="2651760" cy="18288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9" name="Shape 7"/>
          <p:cNvSpPr/>
          <p:nvPr/>
        </p:nvSpPr>
        <p:spPr>
          <a:xfrm>
            <a:off x="3136392" y="960120"/>
            <a:ext cx="2651760" cy="457200"/>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3209544" y="960120"/>
            <a:ext cx="2505456" cy="45720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STEP 2  Text Corpus Creation</a:t>
            </a:r>
            <a:endParaRPr lang="en-US" sz="1100" dirty="0"/>
          </a:p>
        </p:txBody>
      </p:sp>
      <p:sp>
        <p:nvSpPr>
          <p:cNvPr id="11" name="Text 9"/>
          <p:cNvSpPr/>
          <p:nvPr/>
        </p:nvSpPr>
        <p:spPr>
          <a:xfrm>
            <a:off x="3227832" y="1463040"/>
            <a:ext cx="2468880" cy="12344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Each paper converted to a structured .txt file containing title, abstract, introduction, methodology, results &amp; conclusion. Files named systematically (HOD_paper#.txt).</a:t>
            </a:r>
            <a:endParaRPr lang="en-US" sz="1050" dirty="0"/>
          </a:p>
        </p:txBody>
      </p:sp>
      <p:sp>
        <p:nvSpPr>
          <p:cNvPr id="12" name="Shape 10"/>
          <p:cNvSpPr/>
          <p:nvPr/>
        </p:nvSpPr>
        <p:spPr>
          <a:xfrm>
            <a:off x="6044184" y="960120"/>
            <a:ext cx="2651760" cy="18288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3" name="Shape 11"/>
          <p:cNvSpPr/>
          <p:nvPr/>
        </p:nvSpPr>
        <p:spPr>
          <a:xfrm>
            <a:off x="6044184" y="960120"/>
            <a:ext cx="2651760" cy="457200"/>
          </a:xfrm>
          <a:prstGeom prst="rect">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6117336" y="960120"/>
            <a:ext cx="2505456" cy="45720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STEP 3  NLP Summarisation</a:t>
            </a:r>
            <a:endParaRPr lang="en-US" sz="1100" dirty="0"/>
          </a:p>
        </p:txBody>
      </p:sp>
      <p:sp>
        <p:nvSpPr>
          <p:cNvPr id="15" name="Text 13"/>
          <p:cNvSpPr/>
          <p:nvPr/>
        </p:nvSpPr>
        <p:spPr>
          <a:xfrm>
            <a:off x="6135624" y="1463040"/>
            <a:ext cx="2468880" cy="12344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Three models applied: LDA (topic extraction, extractive), BERTopic (transformer embeddings, extractive), and T5/BART (abstractive generation). Same prompt used per model for consistency.</a:t>
            </a:r>
            <a:endParaRPr lang="en-US" sz="1050" dirty="0"/>
          </a:p>
        </p:txBody>
      </p:sp>
      <p:sp>
        <p:nvSpPr>
          <p:cNvPr id="16" name="Shape 14"/>
          <p:cNvSpPr/>
          <p:nvPr/>
        </p:nvSpPr>
        <p:spPr>
          <a:xfrm>
            <a:off x="1517904" y="3017520"/>
            <a:ext cx="2651760" cy="18288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7" name="Shape 15"/>
          <p:cNvSpPr/>
          <p:nvPr/>
        </p:nvSpPr>
        <p:spPr>
          <a:xfrm>
            <a:off x="1517904" y="3017520"/>
            <a:ext cx="2651760" cy="457200"/>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1591056" y="3017520"/>
            <a:ext cx="2505456" cy="45720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STEP 4  Accuracy Validation</a:t>
            </a:r>
            <a:endParaRPr lang="en-US" sz="1100" dirty="0"/>
          </a:p>
        </p:txBody>
      </p:sp>
      <p:sp>
        <p:nvSpPr>
          <p:cNvPr id="19" name="Text 17"/>
          <p:cNvSpPr/>
          <p:nvPr/>
        </p:nvSpPr>
        <p:spPr>
          <a:xfrm>
            <a:off x="1609344" y="3520440"/>
            <a:ext cx="2468880" cy="12344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3 randomly selected papers per HOD (21 total) manually validated: abstract read, NLP summary compared, hallucinations/omissions/misinterpretations noted and rated.</a:t>
            </a:r>
            <a:endParaRPr lang="en-US" sz="1050" dirty="0"/>
          </a:p>
        </p:txBody>
      </p:sp>
      <p:sp>
        <p:nvSpPr>
          <p:cNvPr id="20" name="Shape 18"/>
          <p:cNvSpPr/>
          <p:nvPr/>
        </p:nvSpPr>
        <p:spPr>
          <a:xfrm>
            <a:off x="4425696" y="3017520"/>
            <a:ext cx="2651760" cy="18288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21" name="Shape 19"/>
          <p:cNvSpPr/>
          <p:nvPr/>
        </p:nvSpPr>
        <p:spPr>
          <a:xfrm>
            <a:off x="4425696" y="3017520"/>
            <a:ext cx="2651760" cy="457200"/>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4498848" y="3017520"/>
            <a:ext cx="2505456" cy="45720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STEP 5  Theme Analysis</a:t>
            </a:r>
            <a:endParaRPr lang="en-US" sz="1100" dirty="0"/>
          </a:p>
        </p:txBody>
      </p:sp>
      <p:sp>
        <p:nvSpPr>
          <p:cNvPr id="23" name="Text 21"/>
          <p:cNvSpPr/>
          <p:nvPr/>
        </p:nvSpPr>
        <p:spPr>
          <a:xfrm>
            <a:off x="4517136" y="3520440"/>
            <a:ext cx="2468880" cy="12344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NLP used to extract bigrams, trigrams, LDA topics, and keyword frequencies. Cross-HOD analysis performed for collaboration mapping and emerging topic detection.</a:t>
            </a:r>
            <a:endParaRPr lang="en-US" sz="1050" dirty="0"/>
          </a:p>
        </p:txBody>
      </p:sp>
      <p:sp>
        <p:nvSpPr>
          <p:cNvPr id="24" name="Shape 22"/>
          <p:cNvSpPr/>
          <p:nvPr/>
        </p:nvSpPr>
        <p:spPr>
          <a:xfrm>
            <a:off x="274320" y="4892040"/>
            <a:ext cx="8595360" cy="0"/>
          </a:xfrm>
          <a:prstGeom prst="line">
            <a:avLst/>
          </a:prstGeom>
          <a:noFill/>
          <a:ln w="12700">
            <a:solidFill>
              <a:srgbClr val="CBD5E1"/>
            </a:solidFill>
            <a:prstDash val="solid"/>
          </a:ln>
        </p:spPr>
        <p:txBody>
          <a:bodyPr/>
          <a:lstStyle/>
          <a:p>
            <a:endParaRPr lang="en-US"/>
          </a:p>
        </p:txBody>
      </p:sp>
      <p:sp>
        <p:nvSpPr>
          <p:cNvPr id="25" name="Text 23"/>
          <p:cNvSpPr/>
          <p:nvPr/>
        </p:nvSpPr>
        <p:spPr>
          <a:xfrm>
            <a:off x="274320" y="4919472"/>
            <a:ext cx="8595360" cy="201168"/>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University of Ghana Business School · NLP Research Analysis · 2024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92A571D9-B83C-607C-F0EC-ABD1E516D022}"/>
              </a:ext>
            </a:extLst>
          </p:cNvPr>
          <p:cNvGrpSpPr/>
          <p:nvPr/>
        </p:nvGrpSpPr>
        <p:grpSpPr>
          <a:xfrm>
            <a:off x="0" y="0"/>
            <a:ext cx="9144000" cy="433008"/>
            <a:chOff x="0" y="0"/>
            <a:chExt cx="9144000" cy="433008"/>
          </a:xfrm>
        </p:grpSpPr>
        <p:sp>
          <p:nvSpPr>
            <p:cNvPr id="2" name="Shape 0"/>
            <p:cNvSpPr/>
            <p:nvPr/>
          </p:nvSpPr>
          <p:spPr>
            <a:xfrm>
              <a:off x="0" y="0"/>
              <a:ext cx="9144000" cy="433008"/>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433008"/>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03 · NLP Model Comparison</a:t>
              </a:r>
              <a:endParaRPr lang="en-US" sz="2400" dirty="0"/>
            </a:p>
          </p:txBody>
        </p:sp>
      </p:grpSp>
      <p:grpSp>
        <p:nvGrpSpPr>
          <p:cNvPr id="36" name="Group 35">
            <a:extLst>
              <a:ext uri="{FF2B5EF4-FFF2-40B4-BE49-F238E27FC236}">
                <a16:creationId xmlns:a16="http://schemas.microsoft.com/office/drawing/2014/main" id="{7A309063-CDC3-E39A-ED4A-1884F7CB08C2}"/>
              </a:ext>
            </a:extLst>
          </p:cNvPr>
          <p:cNvGrpSpPr/>
          <p:nvPr/>
        </p:nvGrpSpPr>
        <p:grpSpPr>
          <a:xfrm>
            <a:off x="114300" y="594361"/>
            <a:ext cx="8981922" cy="3954776"/>
            <a:chOff x="228600" y="737071"/>
            <a:chExt cx="8641079" cy="4114197"/>
          </a:xfrm>
        </p:grpSpPr>
        <p:sp>
          <p:nvSpPr>
            <p:cNvPr id="12" name="Shape 10"/>
            <p:cNvSpPr/>
            <p:nvPr/>
          </p:nvSpPr>
          <p:spPr>
            <a:xfrm>
              <a:off x="3117124" y="737072"/>
              <a:ext cx="2743200" cy="2359479"/>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dirty="0"/>
            </a:p>
          </p:txBody>
        </p:sp>
        <p:sp>
          <p:nvSpPr>
            <p:cNvPr id="13" name="Shape 11"/>
            <p:cNvSpPr/>
            <p:nvPr/>
          </p:nvSpPr>
          <p:spPr>
            <a:xfrm>
              <a:off x="3117124" y="737071"/>
              <a:ext cx="2743200" cy="594360"/>
            </a:xfrm>
            <a:prstGeom prst="rect">
              <a:avLst/>
            </a:prstGeom>
            <a:solidFill>
              <a:srgbClr val="028090"/>
            </a:solidFill>
            <a:ln w="12700">
              <a:solidFill>
                <a:srgbClr val="028090"/>
              </a:solidFill>
              <a:prstDash val="solid"/>
            </a:ln>
          </p:spPr>
          <p:txBody>
            <a:bodyPr/>
            <a:lstStyle/>
            <a:p>
              <a:endParaRPr lang="en-US" dirty="0"/>
            </a:p>
          </p:txBody>
        </p:sp>
        <p:sp>
          <p:nvSpPr>
            <p:cNvPr id="4" name="Shape 2"/>
            <p:cNvSpPr/>
            <p:nvPr/>
          </p:nvSpPr>
          <p:spPr>
            <a:xfrm>
              <a:off x="228600" y="737073"/>
              <a:ext cx="2743200" cy="2359479"/>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5" name="Shape 3"/>
            <p:cNvSpPr/>
            <p:nvPr/>
          </p:nvSpPr>
          <p:spPr>
            <a:xfrm>
              <a:off x="228600" y="737073"/>
              <a:ext cx="2743200" cy="594360"/>
            </a:xfrm>
            <a:prstGeom prst="rect">
              <a:avLst/>
            </a:prstGeom>
            <a:solidFill>
              <a:srgbClr val="4A90D9"/>
            </a:solidFill>
            <a:ln w="12700">
              <a:solidFill>
                <a:srgbClr val="4A90D9"/>
              </a:solidFill>
              <a:prstDash val="solid"/>
            </a:ln>
          </p:spPr>
          <p:txBody>
            <a:bodyPr/>
            <a:lstStyle/>
            <a:p>
              <a:endParaRPr lang="en-US" dirty="0"/>
            </a:p>
          </p:txBody>
        </p:sp>
        <p:sp>
          <p:nvSpPr>
            <p:cNvPr id="6" name="Text 4"/>
            <p:cNvSpPr/>
            <p:nvPr/>
          </p:nvSpPr>
          <p:spPr>
            <a:xfrm>
              <a:off x="228600" y="737073"/>
              <a:ext cx="274320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LDA</a:t>
              </a:r>
              <a:endParaRPr lang="en-US" sz="2000" dirty="0"/>
            </a:p>
          </p:txBody>
        </p:sp>
        <p:sp>
          <p:nvSpPr>
            <p:cNvPr id="8" name="Text 6"/>
            <p:cNvSpPr/>
            <p:nvPr/>
          </p:nvSpPr>
          <p:spPr>
            <a:xfrm>
              <a:off x="274320" y="1404585"/>
              <a:ext cx="2560320" cy="90623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Latent Dirichlet Allocation identifies probabilistic topic distributions across paper corpora. Assigns each paper to dominant topics via keyword co-occurrence patterns.</a:t>
              </a:r>
              <a:endParaRPr lang="en-US" sz="1150" dirty="0"/>
            </a:p>
          </p:txBody>
        </p:sp>
        <p:grpSp>
          <p:nvGrpSpPr>
            <p:cNvPr id="31" name="Group 30">
              <a:extLst>
                <a:ext uri="{FF2B5EF4-FFF2-40B4-BE49-F238E27FC236}">
                  <a16:creationId xmlns:a16="http://schemas.microsoft.com/office/drawing/2014/main" id="{FCCEB391-4DE0-E59C-D85C-477BDB1AA251}"/>
                </a:ext>
              </a:extLst>
            </p:cNvPr>
            <p:cNvGrpSpPr/>
            <p:nvPr/>
          </p:nvGrpSpPr>
          <p:grpSpPr>
            <a:xfrm>
              <a:off x="320040" y="2413364"/>
              <a:ext cx="2560320" cy="594360"/>
              <a:chOff x="320040" y="3456432"/>
              <a:chExt cx="2560320" cy="594360"/>
            </a:xfrm>
          </p:grpSpPr>
          <p:sp>
            <p:nvSpPr>
              <p:cNvPr id="9" name="Shape 7"/>
              <p:cNvSpPr/>
              <p:nvPr/>
            </p:nvSpPr>
            <p:spPr>
              <a:xfrm>
                <a:off x="320040" y="3456432"/>
                <a:ext cx="2560320" cy="594360"/>
              </a:xfrm>
              <a:prstGeom prst="rect">
                <a:avLst/>
              </a:prstGeom>
              <a:solidFill>
                <a:srgbClr val="E0F2F7"/>
              </a:solidFill>
              <a:ln w="12700">
                <a:solidFill>
                  <a:srgbClr val="CBD5E1"/>
                </a:solidFill>
                <a:prstDash val="solid"/>
              </a:ln>
            </p:spPr>
            <p:txBody>
              <a:bodyPr/>
              <a:lstStyle/>
              <a:p>
                <a:endParaRPr lang="en-US" dirty="0"/>
              </a:p>
            </p:txBody>
          </p:sp>
          <p:sp>
            <p:nvSpPr>
              <p:cNvPr id="10" name="Text 8"/>
              <p:cNvSpPr/>
              <p:nvPr/>
            </p:nvSpPr>
            <p:spPr>
              <a:xfrm>
                <a:off x="320040" y="3456432"/>
                <a:ext cx="256032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Avg Keyword Overlap:</a:t>
                </a:r>
                <a:endParaRPr lang="en-US" sz="950" dirty="0"/>
              </a:p>
            </p:txBody>
          </p:sp>
          <p:sp>
            <p:nvSpPr>
              <p:cNvPr id="11" name="Text 9"/>
              <p:cNvSpPr/>
              <p:nvPr/>
            </p:nvSpPr>
            <p:spPr>
              <a:xfrm>
                <a:off x="320040" y="3730752"/>
                <a:ext cx="2560320" cy="320040"/>
              </a:xfrm>
              <a:prstGeom prst="rect">
                <a:avLst/>
              </a:prstGeom>
              <a:noFill/>
              <a:ln/>
            </p:spPr>
            <p:txBody>
              <a:bodyPr wrap="square" lIns="0" tIns="0" rIns="0" bIns="0" rtlCol="0" anchor="ctr"/>
              <a:lstStyle/>
              <a:p>
                <a:pPr marL="0" indent="0" algn="ctr">
                  <a:buNone/>
                </a:pPr>
                <a:r>
                  <a:rPr lang="en-US" sz="1400" b="1" dirty="0">
                    <a:solidFill>
                      <a:srgbClr val="4A90D9"/>
                    </a:solidFill>
                    <a:latin typeface="Trebuchet MS" pitchFamily="34" charset="0"/>
                    <a:ea typeface="Trebuchet MS" pitchFamily="34" charset="-122"/>
                    <a:cs typeface="Trebuchet MS" pitchFamily="34" charset="-120"/>
                  </a:rPr>
                  <a:t>4.5–7.7%</a:t>
                </a:r>
                <a:endParaRPr lang="en-US" sz="1400" dirty="0"/>
              </a:p>
            </p:txBody>
          </p:sp>
        </p:grpSp>
        <p:sp>
          <p:nvSpPr>
            <p:cNvPr id="15" name="Text 13"/>
            <p:cNvSpPr/>
            <p:nvPr/>
          </p:nvSpPr>
          <p:spPr>
            <a:xfrm>
              <a:off x="3154680" y="1084545"/>
              <a:ext cx="2743200" cy="246888"/>
            </a:xfrm>
            <a:prstGeom prst="rect">
              <a:avLst/>
            </a:prstGeom>
            <a:noFill/>
            <a:ln/>
          </p:spPr>
          <p:txBody>
            <a:bodyPr wrap="square" lIns="0" tIns="0" rIns="0" bIns="0" rtlCol="0" anchor="ctr"/>
            <a:lstStyle/>
            <a:p>
              <a:pPr marL="0" indent="0" algn="ctr">
                <a:buNone/>
              </a:pPr>
              <a:r>
                <a:rPr lang="en-US" sz="1000" dirty="0">
                  <a:solidFill>
                    <a:srgbClr val="D0F0FF"/>
                  </a:solidFill>
                  <a:latin typeface="Calibri" pitchFamily="34" charset="0"/>
                  <a:ea typeface="Calibri" pitchFamily="34" charset="-122"/>
                  <a:cs typeface="Calibri" pitchFamily="34" charset="-120"/>
                </a:rPr>
                <a:t>Extractive</a:t>
              </a:r>
              <a:endParaRPr lang="en-US" sz="1000" dirty="0"/>
            </a:p>
          </p:txBody>
        </p:sp>
        <p:sp>
          <p:nvSpPr>
            <p:cNvPr id="16" name="Text 14"/>
            <p:cNvSpPr/>
            <p:nvPr/>
          </p:nvSpPr>
          <p:spPr>
            <a:xfrm>
              <a:off x="3200400" y="1404585"/>
              <a:ext cx="2560320" cy="840921"/>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Transformer-based clustering using sentence embeddings (BERT). Groups semantically similar sentences into coherent topics. Best for short-text topic coherence.</a:t>
              </a:r>
              <a:endParaRPr lang="en-US" sz="1150" dirty="0"/>
            </a:p>
          </p:txBody>
        </p:sp>
        <p:grpSp>
          <p:nvGrpSpPr>
            <p:cNvPr id="32" name="Group 31">
              <a:extLst>
                <a:ext uri="{FF2B5EF4-FFF2-40B4-BE49-F238E27FC236}">
                  <a16:creationId xmlns:a16="http://schemas.microsoft.com/office/drawing/2014/main" id="{E09035D7-0401-0EEC-85EB-6239B5B52753}"/>
                </a:ext>
              </a:extLst>
            </p:cNvPr>
            <p:cNvGrpSpPr/>
            <p:nvPr/>
          </p:nvGrpSpPr>
          <p:grpSpPr>
            <a:xfrm>
              <a:off x="3246120" y="2413364"/>
              <a:ext cx="2560320" cy="594360"/>
              <a:chOff x="3246120" y="3456432"/>
              <a:chExt cx="2560320" cy="594360"/>
            </a:xfrm>
          </p:grpSpPr>
          <p:sp>
            <p:nvSpPr>
              <p:cNvPr id="17" name="Shape 15"/>
              <p:cNvSpPr/>
              <p:nvPr/>
            </p:nvSpPr>
            <p:spPr>
              <a:xfrm>
                <a:off x="3246120" y="3456432"/>
                <a:ext cx="2560320" cy="594360"/>
              </a:xfrm>
              <a:prstGeom prst="rect">
                <a:avLst/>
              </a:prstGeom>
              <a:solidFill>
                <a:srgbClr val="E0F2F7"/>
              </a:solidFill>
              <a:ln w="12700">
                <a:solidFill>
                  <a:srgbClr val="CBD5E1"/>
                </a:solidFill>
                <a:prstDash val="solid"/>
              </a:ln>
            </p:spPr>
            <p:txBody>
              <a:bodyPr/>
              <a:lstStyle/>
              <a:p>
                <a:endParaRPr lang="en-US"/>
              </a:p>
            </p:txBody>
          </p:sp>
          <p:sp>
            <p:nvSpPr>
              <p:cNvPr id="18" name="Text 16"/>
              <p:cNvSpPr/>
              <p:nvPr/>
            </p:nvSpPr>
            <p:spPr>
              <a:xfrm>
                <a:off x="3246120" y="3456432"/>
                <a:ext cx="256032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Avg Keyword Overlap:</a:t>
                </a:r>
                <a:endParaRPr lang="en-US" sz="950" dirty="0"/>
              </a:p>
            </p:txBody>
          </p:sp>
          <p:sp>
            <p:nvSpPr>
              <p:cNvPr id="19" name="Text 17"/>
              <p:cNvSpPr/>
              <p:nvPr/>
            </p:nvSpPr>
            <p:spPr>
              <a:xfrm>
                <a:off x="3246120" y="3730752"/>
                <a:ext cx="2560320" cy="320040"/>
              </a:xfrm>
              <a:prstGeom prst="rect">
                <a:avLst/>
              </a:prstGeom>
              <a:noFill/>
              <a:ln/>
            </p:spPr>
            <p:txBody>
              <a:bodyPr wrap="square" lIns="0" tIns="0" rIns="0" bIns="0" rtlCol="0" anchor="ctr"/>
              <a:lstStyle/>
              <a:p>
                <a:pPr marL="0" indent="0" algn="ctr">
                  <a:buNone/>
                </a:pPr>
                <a:r>
                  <a:rPr lang="en-US" sz="1400" b="1" dirty="0">
                    <a:solidFill>
                      <a:srgbClr val="028090"/>
                    </a:solidFill>
                    <a:latin typeface="Trebuchet MS" pitchFamily="34" charset="0"/>
                    <a:ea typeface="Trebuchet MS" pitchFamily="34" charset="-122"/>
                    <a:cs typeface="Trebuchet MS" pitchFamily="34" charset="-120"/>
                  </a:rPr>
                  <a:t>0–7.9%</a:t>
                </a:r>
                <a:endParaRPr lang="en-US" sz="1400" dirty="0"/>
              </a:p>
            </p:txBody>
          </p:sp>
        </p:grpSp>
        <p:sp>
          <p:nvSpPr>
            <p:cNvPr id="20" name="Shape 18"/>
            <p:cNvSpPr/>
            <p:nvPr/>
          </p:nvSpPr>
          <p:spPr>
            <a:xfrm>
              <a:off x="6080760" y="737073"/>
              <a:ext cx="2743200" cy="2359479"/>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21" name="Shape 19"/>
            <p:cNvSpPr/>
            <p:nvPr/>
          </p:nvSpPr>
          <p:spPr>
            <a:xfrm>
              <a:off x="6080760" y="737073"/>
              <a:ext cx="2743200" cy="594360"/>
            </a:xfrm>
            <a:prstGeom prst="rect">
              <a:avLst/>
            </a:prstGeom>
            <a:solidFill>
              <a:srgbClr val="10B981"/>
            </a:solidFill>
            <a:ln w="12700">
              <a:solidFill>
                <a:srgbClr val="10B981"/>
              </a:solidFill>
              <a:prstDash val="solid"/>
            </a:ln>
          </p:spPr>
          <p:txBody>
            <a:bodyPr/>
            <a:lstStyle/>
            <a:p>
              <a:endParaRPr lang="en-US"/>
            </a:p>
          </p:txBody>
        </p:sp>
        <p:sp>
          <p:nvSpPr>
            <p:cNvPr id="22" name="Text 20"/>
            <p:cNvSpPr/>
            <p:nvPr/>
          </p:nvSpPr>
          <p:spPr>
            <a:xfrm>
              <a:off x="6080760" y="737073"/>
              <a:ext cx="274320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T5 / BART</a:t>
              </a:r>
              <a:endParaRPr lang="en-US" sz="2000" dirty="0"/>
            </a:p>
          </p:txBody>
        </p:sp>
        <p:sp>
          <p:nvSpPr>
            <p:cNvPr id="23" name="Text 21"/>
            <p:cNvSpPr/>
            <p:nvPr/>
          </p:nvSpPr>
          <p:spPr>
            <a:xfrm>
              <a:off x="6080760" y="1084545"/>
              <a:ext cx="2743200" cy="246888"/>
            </a:xfrm>
            <a:prstGeom prst="rect">
              <a:avLst/>
            </a:prstGeom>
            <a:noFill/>
            <a:ln/>
          </p:spPr>
          <p:txBody>
            <a:bodyPr wrap="square" lIns="0" tIns="0" rIns="0" bIns="0" rtlCol="0" anchor="ctr"/>
            <a:lstStyle/>
            <a:p>
              <a:pPr marL="0" indent="0" algn="ctr">
                <a:buNone/>
              </a:pPr>
              <a:r>
                <a:rPr lang="en-US" sz="1000" dirty="0">
                  <a:solidFill>
                    <a:srgbClr val="D0F0FF"/>
                  </a:solidFill>
                  <a:latin typeface="Calibri" pitchFamily="34" charset="0"/>
                  <a:ea typeface="Calibri" pitchFamily="34" charset="-122"/>
                  <a:cs typeface="Calibri" pitchFamily="34" charset="-120"/>
                </a:rPr>
                <a:t>Abstractive</a:t>
              </a:r>
              <a:endParaRPr lang="en-US" sz="1000" dirty="0"/>
            </a:p>
          </p:txBody>
        </p:sp>
        <p:sp>
          <p:nvSpPr>
            <p:cNvPr id="24" name="Text 22"/>
            <p:cNvSpPr/>
            <p:nvPr/>
          </p:nvSpPr>
          <p:spPr>
            <a:xfrm>
              <a:off x="6172200" y="1404585"/>
              <a:ext cx="2514600" cy="989838"/>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Sequence-to-sequence transformer model. Generates novel summary sentences by paraphrasing and synthesising information — not just extracting it. Clearly the top performer.</a:t>
              </a:r>
              <a:endParaRPr lang="en-US" sz="1150" dirty="0"/>
            </a:p>
          </p:txBody>
        </p:sp>
        <p:grpSp>
          <p:nvGrpSpPr>
            <p:cNvPr id="33" name="Group 32">
              <a:extLst>
                <a:ext uri="{FF2B5EF4-FFF2-40B4-BE49-F238E27FC236}">
                  <a16:creationId xmlns:a16="http://schemas.microsoft.com/office/drawing/2014/main" id="{AD0579ED-9DBD-62B3-FDC1-3524C852B0D6}"/>
                </a:ext>
              </a:extLst>
            </p:cNvPr>
            <p:cNvGrpSpPr/>
            <p:nvPr/>
          </p:nvGrpSpPr>
          <p:grpSpPr>
            <a:xfrm>
              <a:off x="6172200" y="2413364"/>
              <a:ext cx="2560320" cy="594360"/>
              <a:chOff x="6172200" y="3456432"/>
              <a:chExt cx="2560320" cy="594360"/>
            </a:xfrm>
          </p:grpSpPr>
          <p:sp>
            <p:nvSpPr>
              <p:cNvPr id="25" name="Shape 23"/>
              <p:cNvSpPr/>
              <p:nvPr/>
            </p:nvSpPr>
            <p:spPr>
              <a:xfrm>
                <a:off x="6172200" y="3456432"/>
                <a:ext cx="2560320" cy="594360"/>
              </a:xfrm>
              <a:prstGeom prst="rect">
                <a:avLst/>
              </a:prstGeom>
              <a:solidFill>
                <a:srgbClr val="E0F2F7"/>
              </a:solidFill>
              <a:ln w="12700">
                <a:solidFill>
                  <a:srgbClr val="CBD5E1"/>
                </a:solidFill>
                <a:prstDash val="solid"/>
              </a:ln>
            </p:spPr>
            <p:txBody>
              <a:bodyPr/>
              <a:lstStyle/>
              <a:p>
                <a:endParaRPr lang="en-US"/>
              </a:p>
            </p:txBody>
          </p:sp>
          <p:sp>
            <p:nvSpPr>
              <p:cNvPr id="26" name="Text 24"/>
              <p:cNvSpPr/>
              <p:nvPr/>
            </p:nvSpPr>
            <p:spPr>
              <a:xfrm>
                <a:off x="6172200" y="3456432"/>
                <a:ext cx="256032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Avg Keyword Overlap:</a:t>
                </a:r>
                <a:endParaRPr lang="en-US" sz="950" dirty="0"/>
              </a:p>
            </p:txBody>
          </p:sp>
          <p:sp>
            <p:nvSpPr>
              <p:cNvPr id="27" name="Text 25"/>
              <p:cNvSpPr/>
              <p:nvPr/>
            </p:nvSpPr>
            <p:spPr>
              <a:xfrm>
                <a:off x="6172200" y="3730752"/>
                <a:ext cx="2560320" cy="320040"/>
              </a:xfrm>
              <a:prstGeom prst="rect">
                <a:avLst/>
              </a:prstGeom>
              <a:noFill/>
              <a:ln/>
            </p:spPr>
            <p:txBody>
              <a:bodyPr wrap="square" lIns="0" tIns="0" rIns="0" bIns="0" rtlCol="0" anchor="ctr"/>
              <a:lstStyle/>
              <a:p>
                <a:pPr marL="0" indent="0" algn="ctr">
                  <a:buNone/>
                </a:pPr>
                <a:r>
                  <a:rPr lang="en-US" sz="1400" b="1" dirty="0">
                    <a:solidFill>
                      <a:srgbClr val="10B981"/>
                    </a:solidFill>
                    <a:latin typeface="Trebuchet MS" pitchFamily="34" charset="0"/>
                    <a:ea typeface="Trebuchet MS" pitchFamily="34" charset="-122"/>
                    <a:cs typeface="Trebuchet MS" pitchFamily="34" charset="-120"/>
                  </a:rPr>
                  <a:t>25–37%</a:t>
                </a:r>
                <a:endParaRPr lang="en-US" sz="1400" dirty="0"/>
              </a:p>
            </p:txBody>
          </p:sp>
        </p:grpSp>
        <p:sp>
          <p:nvSpPr>
            <p:cNvPr id="14" name="Text 12"/>
            <p:cNvSpPr/>
            <p:nvPr/>
          </p:nvSpPr>
          <p:spPr>
            <a:xfrm>
              <a:off x="3154680" y="737073"/>
              <a:ext cx="2743200" cy="347472"/>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BERTopic</a:t>
              </a:r>
              <a:endParaRPr lang="en-US" sz="2000" dirty="0">
                <a:solidFill>
                  <a:schemeClr val="bg1"/>
                </a:solidFill>
              </a:endParaRPr>
            </a:p>
          </p:txBody>
        </p:sp>
        <p:sp>
          <p:nvSpPr>
            <p:cNvPr id="7" name="Text 5"/>
            <p:cNvSpPr/>
            <p:nvPr/>
          </p:nvSpPr>
          <p:spPr>
            <a:xfrm>
              <a:off x="263706" y="1098749"/>
              <a:ext cx="2743200" cy="246888"/>
            </a:xfrm>
            <a:prstGeom prst="rect">
              <a:avLst/>
            </a:prstGeom>
            <a:noFill/>
            <a:ln/>
          </p:spPr>
          <p:txBody>
            <a:bodyPr wrap="square" lIns="0" tIns="0" rIns="0" bIns="0" rtlCol="0" anchor="ctr"/>
            <a:lstStyle/>
            <a:p>
              <a:pPr marL="0" indent="0" algn="ctr">
                <a:buNone/>
              </a:pPr>
              <a:r>
                <a:rPr lang="en-US" sz="1000" dirty="0">
                  <a:solidFill>
                    <a:srgbClr val="D0F0FF"/>
                  </a:solidFill>
                  <a:latin typeface="Calibri" pitchFamily="34" charset="0"/>
                  <a:ea typeface="Calibri" pitchFamily="34" charset="-122"/>
                  <a:cs typeface="Calibri" pitchFamily="34" charset="-120"/>
                </a:rPr>
                <a:t>Extractive</a:t>
              </a:r>
              <a:endParaRPr lang="en-US" sz="1000" dirty="0"/>
            </a:p>
          </p:txBody>
        </p:sp>
        <p:sp>
          <p:nvSpPr>
            <p:cNvPr id="29" name="Shape 26"/>
            <p:cNvSpPr/>
            <p:nvPr/>
          </p:nvSpPr>
          <p:spPr>
            <a:xfrm flipV="1">
              <a:off x="8161615" y="4851268"/>
              <a:ext cx="708064" cy="0"/>
            </a:xfrm>
            <a:prstGeom prst="line">
              <a:avLst/>
            </a:prstGeom>
            <a:noFill/>
            <a:ln w="12700">
              <a:solidFill>
                <a:srgbClr val="CBD5E1"/>
              </a:solidFill>
              <a:prstDash val="solid"/>
            </a:ln>
          </p:spPr>
          <p:txBody>
            <a:bodyPr/>
            <a:lstStyle/>
            <a:p>
              <a:endParaRPr lang="en-US" dirty="0"/>
            </a:p>
          </p:txBody>
        </p:sp>
      </p:grpSp>
      <p:sp>
        <p:nvSpPr>
          <p:cNvPr id="30" name="Text 27"/>
          <p:cNvSpPr/>
          <p:nvPr/>
        </p:nvSpPr>
        <p:spPr>
          <a:xfrm>
            <a:off x="8164115" y="3125492"/>
            <a:ext cx="1015637" cy="1447688"/>
          </a:xfrm>
          <a:prstGeom prst="rect">
            <a:avLst/>
          </a:prstGeom>
          <a:noFill/>
          <a:ln/>
        </p:spPr>
        <p:txBody>
          <a:bodyPr wrap="square" rtlCol="0" anchor="ctr"/>
          <a:lstStyle/>
          <a:p>
            <a:pPr marL="0" indent="0" algn="ctr">
              <a:buNone/>
            </a:pPr>
            <a:r>
              <a:rPr lang="en-US" sz="900" i="1" dirty="0">
                <a:solidFill>
                  <a:srgbClr val="028090"/>
                </a:solidFill>
                <a:latin typeface="Calibri" pitchFamily="34" charset="0"/>
                <a:ea typeface="Calibri" pitchFamily="34" charset="-122"/>
                <a:cs typeface="Calibri" pitchFamily="34" charset="-120"/>
              </a:rPr>
              <a:t>T5/BART consistently outperformed LDA and BERTopic across all 7 HODs in keyword overlap with original abstracts</a:t>
            </a:r>
            <a:endParaRPr lang="en-US" sz="900" dirty="0"/>
          </a:p>
        </p:txBody>
      </p:sp>
      <p:pic>
        <p:nvPicPr>
          <p:cNvPr id="39" name="Picture 38">
            <a:extLst>
              <a:ext uri="{FF2B5EF4-FFF2-40B4-BE49-F238E27FC236}">
                <a16:creationId xmlns:a16="http://schemas.microsoft.com/office/drawing/2014/main" id="{E04E38BF-BA7C-72CC-B2C5-9CE1BF375A58}"/>
              </a:ext>
            </a:extLst>
          </p:cNvPr>
          <p:cNvPicPr>
            <a:picLocks noChangeAspect="1"/>
          </p:cNvPicPr>
          <p:nvPr/>
        </p:nvPicPr>
        <p:blipFill>
          <a:blip r:embed="rId3"/>
          <a:stretch>
            <a:fillRect/>
          </a:stretch>
        </p:blipFill>
        <p:spPr>
          <a:xfrm>
            <a:off x="107830" y="2875597"/>
            <a:ext cx="8049815" cy="22680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87F874B-FE3D-1097-9A43-EACEA1C85136}"/>
              </a:ext>
            </a:extLst>
          </p:cNvPr>
          <p:cNvPicPr>
            <a:picLocks noChangeAspect="1"/>
          </p:cNvPicPr>
          <p:nvPr/>
        </p:nvPicPr>
        <p:blipFill>
          <a:blip r:embed="rId3"/>
          <a:stretch>
            <a:fillRect/>
          </a:stretch>
        </p:blipFill>
        <p:spPr>
          <a:xfrm>
            <a:off x="3413759" y="523214"/>
            <a:ext cx="2404533" cy="2414870"/>
          </a:xfrm>
          <a:prstGeom prst="rect">
            <a:avLst/>
          </a:prstGeom>
        </p:spPr>
      </p:pic>
      <p:pic>
        <p:nvPicPr>
          <p:cNvPr id="13" name="Picture 12">
            <a:extLst>
              <a:ext uri="{FF2B5EF4-FFF2-40B4-BE49-F238E27FC236}">
                <a16:creationId xmlns:a16="http://schemas.microsoft.com/office/drawing/2014/main" id="{E8494ABB-2F4D-27C6-80FD-8B9ACE8EC37B}"/>
              </a:ext>
            </a:extLst>
          </p:cNvPr>
          <p:cNvPicPr>
            <a:picLocks noChangeAspect="1"/>
          </p:cNvPicPr>
          <p:nvPr/>
        </p:nvPicPr>
        <p:blipFill>
          <a:blip r:embed="rId4"/>
          <a:stretch>
            <a:fillRect/>
          </a:stretch>
        </p:blipFill>
        <p:spPr>
          <a:xfrm>
            <a:off x="0" y="498881"/>
            <a:ext cx="2753030" cy="2359361"/>
          </a:xfrm>
          <a:prstGeom prst="rect">
            <a:avLst/>
          </a:prstGeom>
        </p:spPr>
      </p:pic>
      <p:pic>
        <p:nvPicPr>
          <p:cNvPr id="15" name="Picture 14">
            <a:extLst>
              <a:ext uri="{FF2B5EF4-FFF2-40B4-BE49-F238E27FC236}">
                <a16:creationId xmlns:a16="http://schemas.microsoft.com/office/drawing/2014/main" id="{801F73F8-4D84-DA5B-44AF-5D0084255E39}"/>
              </a:ext>
            </a:extLst>
          </p:cNvPr>
          <p:cNvPicPr>
            <a:picLocks noChangeAspect="1"/>
          </p:cNvPicPr>
          <p:nvPr/>
        </p:nvPicPr>
        <p:blipFill>
          <a:blip r:embed="rId5"/>
          <a:stretch>
            <a:fillRect/>
          </a:stretch>
        </p:blipFill>
        <p:spPr>
          <a:xfrm>
            <a:off x="6390972" y="506186"/>
            <a:ext cx="2753032" cy="2359361"/>
          </a:xfrm>
          <a:prstGeom prst="rect">
            <a:avLst/>
          </a:prstGeom>
        </p:spPr>
      </p:pic>
      <p:grpSp>
        <p:nvGrpSpPr>
          <p:cNvPr id="9" name="Group 8">
            <a:extLst>
              <a:ext uri="{FF2B5EF4-FFF2-40B4-BE49-F238E27FC236}">
                <a16:creationId xmlns:a16="http://schemas.microsoft.com/office/drawing/2014/main" id="{3C5D40DC-0CB1-B195-96C3-12145B0772FF}"/>
              </a:ext>
            </a:extLst>
          </p:cNvPr>
          <p:cNvGrpSpPr/>
          <p:nvPr/>
        </p:nvGrpSpPr>
        <p:grpSpPr>
          <a:xfrm>
            <a:off x="0" y="0"/>
            <a:ext cx="9144000" cy="506186"/>
            <a:chOff x="0" y="0"/>
            <a:chExt cx="9144000" cy="82296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03 · Model Performance — Visual Comparison</a:t>
              </a:r>
              <a:endParaRPr lang="en-US" sz="2400" dirty="0"/>
            </a:p>
          </p:txBody>
        </p:sp>
      </p:grpSp>
      <p:sp>
        <p:nvSpPr>
          <p:cNvPr id="7" name="Text 2"/>
          <p:cNvSpPr/>
          <p:nvPr/>
        </p:nvSpPr>
        <p:spPr>
          <a:xfrm>
            <a:off x="0" y="2790835"/>
            <a:ext cx="2015613" cy="2291952"/>
          </a:xfrm>
          <a:prstGeom prst="rect">
            <a:avLst/>
          </a:prstGeom>
          <a:noFill/>
          <a:ln/>
        </p:spPr>
        <p:txBody>
          <a:bodyPr wrap="square" rtlCol="0" anchor="ctr"/>
          <a:lstStyle/>
          <a:p>
            <a:pPr algn="ctr"/>
            <a:br>
              <a:rPr lang="en-US" sz="1000" b="1" i="1" dirty="0">
                <a:solidFill>
                  <a:srgbClr val="00B050"/>
                </a:solidFill>
                <a:latin typeface="Calibri" pitchFamily="34" charset="0"/>
                <a:ea typeface="Calibri" pitchFamily="34" charset="-122"/>
                <a:cs typeface="Calibri" pitchFamily="34" charset="-120"/>
              </a:rPr>
            </a:br>
            <a:r>
              <a:rPr lang="en-US" sz="1000" b="1" dirty="0">
                <a:solidFill>
                  <a:srgbClr val="00B050"/>
                </a:solidFill>
              </a:rPr>
              <a:t>T5/BART clearly outperforms LDA and </a:t>
            </a:r>
            <a:r>
              <a:rPr lang="en-US" sz="1000" b="1" dirty="0" err="1">
                <a:solidFill>
                  <a:srgbClr val="00B050"/>
                </a:solidFill>
              </a:rPr>
              <a:t>BERTopic</a:t>
            </a:r>
            <a:r>
              <a:rPr lang="en-US" sz="1000" b="1" dirty="0">
                <a:solidFill>
                  <a:srgbClr val="00B050"/>
                </a:solidFill>
              </a:rPr>
              <a:t>, with most points concentrated above the diagonal. This shows it captures key ideas from papers more accurately and consistently across all HODs.</a:t>
            </a:r>
          </a:p>
        </p:txBody>
      </p:sp>
      <p:pic>
        <p:nvPicPr>
          <p:cNvPr id="11" name="Picture 10">
            <a:extLst>
              <a:ext uri="{FF2B5EF4-FFF2-40B4-BE49-F238E27FC236}">
                <a16:creationId xmlns:a16="http://schemas.microsoft.com/office/drawing/2014/main" id="{6E06441F-4AB2-576F-9819-721AEACD6A09}"/>
              </a:ext>
            </a:extLst>
          </p:cNvPr>
          <p:cNvPicPr>
            <a:picLocks noChangeAspect="1"/>
          </p:cNvPicPr>
          <p:nvPr/>
        </p:nvPicPr>
        <p:blipFill>
          <a:blip r:embed="rId6"/>
          <a:stretch>
            <a:fillRect/>
          </a:stretch>
        </p:blipFill>
        <p:spPr>
          <a:xfrm>
            <a:off x="2178835" y="2851548"/>
            <a:ext cx="6949440" cy="22919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98348"/>
          </a:xfrm>
          <a:prstGeom prst="rect">
            <a:avLst/>
          </a:prstGeom>
          <a:solidFill>
            <a:srgbClr val="1B3A6B"/>
          </a:solidFill>
          <a:ln w="12700">
            <a:solidFill>
              <a:srgbClr val="1B3A6B"/>
            </a:solidFill>
            <a:prstDash val="solid"/>
          </a:ln>
        </p:spPr>
        <p:txBody>
          <a:bodyPr/>
          <a:lstStyle/>
          <a:p>
            <a:endParaRPr lang="en-US" dirty="0"/>
          </a:p>
        </p:txBody>
      </p:sp>
      <p:sp>
        <p:nvSpPr>
          <p:cNvPr id="3" name="Text 1"/>
          <p:cNvSpPr/>
          <p:nvPr/>
        </p:nvSpPr>
        <p:spPr>
          <a:xfrm>
            <a:off x="365760" y="0"/>
            <a:ext cx="8412480" cy="49834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04 · Accuracy Validation &amp; Quality Assessment</a:t>
            </a:r>
            <a:endParaRPr lang="en-US" sz="2200" dirty="0"/>
          </a:p>
        </p:txBody>
      </p:sp>
      <p:pic>
        <p:nvPicPr>
          <p:cNvPr id="24" name="Picture 23">
            <a:extLst>
              <a:ext uri="{FF2B5EF4-FFF2-40B4-BE49-F238E27FC236}">
                <a16:creationId xmlns:a16="http://schemas.microsoft.com/office/drawing/2014/main" id="{D65306DC-F310-1934-AF25-DB022A2B4B48}"/>
              </a:ext>
            </a:extLst>
          </p:cNvPr>
          <p:cNvPicPr>
            <a:picLocks noChangeAspect="1"/>
          </p:cNvPicPr>
          <p:nvPr/>
        </p:nvPicPr>
        <p:blipFill>
          <a:blip r:embed="rId3"/>
          <a:stretch>
            <a:fillRect/>
          </a:stretch>
        </p:blipFill>
        <p:spPr>
          <a:xfrm>
            <a:off x="0" y="498348"/>
            <a:ext cx="9144000" cy="2151744"/>
          </a:xfrm>
          <a:prstGeom prst="rect">
            <a:avLst/>
          </a:prstGeom>
        </p:spPr>
      </p:pic>
      <p:pic>
        <p:nvPicPr>
          <p:cNvPr id="27" name="Picture 26">
            <a:extLst>
              <a:ext uri="{FF2B5EF4-FFF2-40B4-BE49-F238E27FC236}">
                <a16:creationId xmlns:a16="http://schemas.microsoft.com/office/drawing/2014/main" id="{81B7FB0D-3D7D-60D9-2B35-711506E8EC8B}"/>
              </a:ext>
            </a:extLst>
          </p:cNvPr>
          <p:cNvPicPr>
            <a:picLocks noChangeAspect="1"/>
          </p:cNvPicPr>
          <p:nvPr/>
        </p:nvPicPr>
        <p:blipFill>
          <a:blip r:embed="rId4"/>
          <a:stretch>
            <a:fillRect/>
          </a:stretch>
        </p:blipFill>
        <p:spPr>
          <a:xfrm>
            <a:off x="0" y="2997218"/>
            <a:ext cx="9144000" cy="2146282"/>
          </a:xfrm>
          <a:prstGeom prst="rect">
            <a:avLst/>
          </a:prstGeom>
        </p:spPr>
      </p:pic>
      <p:sp>
        <p:nvSpPr>
          <p:cNvPr id="6" name="Shape 0">
            <a:extLst>
              <a:ext uri="{FF2B5EF4-FFF2-40B4-BE49-F238E27FC236}">
                <a16:creationId xmlns:a16="http://schemas.microsoft.com/office/drawing/2014/main" id="{1F1B7439-360E-CACB-4A13-EB3E6B1214DC}"/>
              </a:ext>
            </a:extLst>
          </p:cNvPr>
          <p:cNvSpPr/>
          <p:nvPr/>
        </p:nvSpPr>
        <p:spPr>
          <a:xfrm>
            <a:off x="308610" y="2650092"/>
            <a:ext cx="2186940" cy="1159908"/>
          </a:xfrm>
          <a:prstGeom prst="rect">
            <a:avLst/>
          </a:prstGeom>
          <a:solidFill>
            <a:srgbClr val="1B3A6B"/>
          </a:solidFill>
          <a:ln w="12700">
            <a:solidFill>
              <a:srgbClr val="1B3A6B"/>
            </a:solidFill>
            <a:prstDash val="solid"/>
          </a:ln>
        </p:spPr>
        <p:txBody>
          <a:bodyPr/>
          <a:lstStyle/>
          <a:p>
            <a:endParaRPr lang="en-US" dirty="0"/>
          </a:p>
        </p:txBody>
      </p:sp>
      <p:sp>
        <p:nvSpPr>
          <p:cNvPr id="4" name="TextBox 3">
            <a:extLst>
              <a:ext uri="{FF2B5EF4-FFF2-40B4-BE49-F238E27FC236}">
                <a16:creationId xmlns:a16="http://schemas.microsoft.com/office/drawing/2014/main" id="{D2E62C34-755C-7039-C16E-718DCC488393}"/>
              </a:ext>
            </a:extLst>
          </p:cNvPr>
          <p:cNvSpPr txBox="1"/>
          <p:nvPr/>
        </p:nvSpPr>
        <p:spPr>
          <a:xfrm>
            <a:off x="365760" y="2571750"/>
            <a:ext cx="2186940" cy="1323439"/>
          </a:xfrm>
          <a:prstGeom prst="rect">
            <a:avLst/>
          </a:prstGeom>
          <a:noFill/>
        </p:spPr>
        <p:txBody>
          <a:bodyPr wrap="square" rtlCol="0">
            <a:spAutoFit/>
          </a:bodyPr>
          <a:lstStyle/>
          <a:p>
            <a:r>
              <a:rPr lang="en-US" sz="1000" dirty="0">
                <a:solidFill>
                  <a:schemeClr val="bg1"/>
                </a:solidFill>
                <a:latin typeface="Trebuchet MS" panose="020B0603020202020204" pitchFamily="34" charset="0"/>
              </a:rPr>
              <a:t>Most summaries fall within the “good” and “acceptable” range, meaning the models capture the main ideas reasonably well. However, extractive methods often miss important context, leading to lower completeness.</a:t>
            </a:r>
          </a:p>
          <a:p>
            <a:endParaRPr lang="en-US" sz="1000" dirty="0">
              <a:solidFill>
                <a:schemeClr val="bg1"/>
              </a:solidFill>
              <a:latin typeface="Trebuchet MS" panose="020B0603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AFAA1D-6F58-3850-B610-2FF5F2E2826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C28E2E-09E3-52AB-2C1D-1FED32B52F1B}"/>
              </a:ext>
            </a:extLst>
          </p:cNvPr>
          <p:cNvSpPr/>
          <p:nvPr/>
        </p:nvSpPr>
        <p:spPr>
          <a:xfrm>
            <a:off x="0" y="0"/>
            <a:ext cx="9144000" cy="498348"/>
          </a:xfrm>
          <a:prstGeom prst="rect">
            <a:avLst/>
          </a:prstGeom>
          <a:solidFill>
            <a:srgbClr val="1B3A6B"/>
          </a:solidFill>
          <a:ln w="12700">
            <a:solidFill>
              <a:srgbClr val="1B3A6B"/>
            </a:solidFill>
            <a:prstDash val="solid"/>
          </a:ln>
        </p:spPr>
        <p:txBody>
          <a:bodyPr/>
          <a:lstStyle/>
          <a:p>
            <a:endParaRPr lang="en-US"/>
          </a:p>
        </p:txBody>
      </p:sp>
      <p:sp>
        <p:nvSpPr>
          <p:cNvPr id="3" name="Text 1">
            <a:extLst>
              <a:ext uri="{FF2B5EF4-FFF2-40B4-BE49-F238E27FC236}">
                <a16:creationId xmlns:a16="http://schemas.microsoft.com/office/drawing/2014/main" id="{D98A486A-165C-FED7-92C6-12E915EB1D77}"/>
              </a:ext>
            </a:extLst>
          </p:cNvPr>
          <p:cNvSpPr/>
          <p:nvPr/>
        </p:nvSpPr>
        <p:spPr>
          <a:xfrm>
            <a:off x="365760" y="0"/>
            <a:ext cx="8412480" cy="498348"/>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04 · Accuracy Validation &amp; Quality Assessment</a:t>
            </a:r>
            <a:endParaRPr lang="en-US" sz="2200" dirty="0"/>
          </a:p>
        </p:txBody>
      </p:sp>
      <p:pic>
        <p:nvPicPr>
          <p:cNvPr id="19" name="Picture 18">
            <a:extLst>
              <a:ext uri="{FF2B5EF4-FFF2-40B4-BE49-F238E27FC236}">
                <a16:creationId xmlns:a16="http://schemas.microsoft.com/office/drawing/2014/main" id="{C4201E98-047C-78AC-8DD8-D8195F971F49}"/>
              </a:ext>
            </a:extLst>
          </p:cNvPr>
          <p:cNvPicPr>
            <a:picLocks noChangeAspect="1"/>
          </p:cNvPicPr>
          <p:nvPr/>
        </p:nvPicPr>
        <p:blipFill>
          <a:blip r:embed="rId3"/>
          <a:stretch>
            <a:fillRect/>
          </a:stretch>
        </p:blipFill>
        <p:spPr>
          <a:xfrm>
            <a:off x="0" y="498348"/>
            <a:ext cx="9144000" cy="3632970"/>
          </a:xfrm>
          <a:prstGeom prst="rect">
            <a:avLst/>
          </a:prstGeom>
        </p:spPr>
      </p:pic>
      <p:sp>
        <p:nvSpPr>
          <p:cNvPr id="4" name="TextBox 3">
            <a:extLst>
              <a:ext uri="{FF2B5EF4-FFF2-40B4-BE49-F238E27FC236}">
                <a16:creationId xmlns:a16="http://schemas.microsoft.com/office/drawing/2014/main" id="{BB66D419-609E-9A69-C5D9-8EE8F9206D1A}"/>
              </a:ext>
            </a:extLst>
          </p:cNvPr>
          <p:cNvSpPr txBox="1"/>
          <p:nvPr/>
        </p:nvSpPr>
        <p:spPr>
          <a:xfrm>
            <a:off x="655320" y="4229100"/>
            <a:ext cx="2987040" cy="553998"/>
          </a:xfrm>
          <a:prstGeom prst="rect">
            <a:avLst/>
          </a:prstGeom>
          <a:noFill/>
        </p:spPr>
        <p:txBody>
          <a:bodyPr wrap="square" rtlCol="0">
            <a:spAutoFit/>
          </a:bodyPr>
          <a:lstStyle/>
          <a:p>
            <a:r>
              <a:rPr lang="en-US" sz="1000" b="1" dirty="0">
                <a:solidFill>
                  <a:schemeClr val="accent1">
                    <a:lumMod val="75000"/>
                  </a:schemeClr>
                </a:solidFill>
              </a:rPr>
              <a:t>Keyword overlap is inconsistent across models, with extractive methods performing better in some cases due to direct keyword preservation.</a:t>
            </a:r>
          </a:p>
        </p:txBody>
      </p:sp>
      <p:sp>
        <p:nvSpPr>
          <p:cNvPr id="21" name="TextBox 20">
            <a:extLst>
              <a:ext uri="{FF2B5EF4-FFF2-40B4-BE49-F238E27FC236}">
                <a16:creationId xmlns:a16="http://schemas.microsoft.com/office/drawing/2014/main" id="{BD359FCD-D3C0-69D3-ED58-80567BD1A12F}"/>
              </a:ext>
            </a:extLst>
          </p:cNvPr>
          <p:cNvSpPr txBox="1"/>
          <p:nvPr/>
        </p:nvSpPr>
        <p:spPr>
          <a:xfrm>
            <a:off x="5181600" y="4229100"/>
            <a:ext cx="2987040" cy="553998"/>
          </a:xfrm>
          <a:prstGeom prst="rect">
            <a:avLst/>
          </a:prstGeom>
          <a:noFill/>
        </p:spPr>
        <p:txBody>
          <a:bodyPr wrap="square" rtlCol="0">
            <a:spAutoFit/>
          </a:bodyPr>
          <a:lstStyle/>
          <a:p>
            <a:r>
              <a:rPr lang="en-US" sz="1000" b="1" dirty="0">
                <a:solidFill>
                  <a:schemeClr val="accent1">
                    <a:lumMod val="75000"/>
                  </a:schemeClr>
                </a:solidFill>
              </a:rPr>
              <a:t>T5/BART generally outperforms extractive methods in ROUGE-1 scores across most HODs, indicating better summary quality, with only minor exceptions.</a:t>
            </a:r>
          </a:p>
        </p:txBody>
      </p:sp>
    </p:spTree>
    <p:extLst>
      <p:ext uri="{BB962C8B-B14F-4D97-AF65-F5344CB8AC3E}">
        <p14:creationId xmlns:p14="http://schemas.microsoft.com/office/powerpoint/2010/main" val="316928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457200" y="0"/>
            <a:ext cx="8321040" cy="562347"/>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05 · HOD Research Profiles &amp; Summaries</a:t>
            </a:r>
            <a:endParaRPr lang="en-US" sz="2400" dirty="0"/>
          </a:p>
        </p:txBody>
      </p:sp>
      <p:sp>
        <p:nvSpPr>
          <p:cNvPr id="4" name="Shape 2"/>
          <p:cNvSpPr/>
          <p:nvPr/>
        </p:nvSpPr>
        <p:spPr>
          <a:xfrm>
            <a:off x="182880" y="914400"/>
            <a:ext cx="429768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5" name="Shape 3"/>
          <p:cNvSpPr/>
          <p:nvPr/>
        </p:nvSpPr>
        <p:spPr>
          <a:xfrm>
            <a:off x="182880" y="914400"/>
            <a:ext cx="109728" cy="91440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365760" y="950976"/>
            <a:ext cx="384048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[Accounting]  Prof. Godfred Matthew Yaw Owusu</a:t>
            </a:r>
            <a:endParaRPr lang="en-US" sz="1050" dirty="0"/>
          </a:p>
        </p:txBody>
      </p:sp>
      <p:sp>
        <p:nvSpPr>
          <p:cNvPr id="7" name="Text 5"/>
          <p:cNvSpPr/>
          <p:nvPr/>
        </p:nvSpPr>
        <p:spPr>
          <a:xfrm>
            <a:off x="365760" y="1234440"/>
            <a:ext cx="3840480" cy="2743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Sustainability Reporting · Tax Compliance · Financial Behaviour</a:t>
            </a:r>
            <a:endParaRPr lang="en-US" sz="1000" dirty="0"/>
          </a:p>
        </p:txBody>
      </p:sp>
      <p:sp>
        <p:nvSpPr>
          <p:cNvPr id="8" name="Text 6"/>
          <p:cNvSpPr/>
          <p:nvPr/>
        </p:nvSpPr>
        <p:spPr>
          <a:xfrm>
            <a:off x="365760" y="1517904"/>
            <a:ext cx="3840480" cy="2286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Method: Quantitative  |  Validation: 55.6%</a:t>
            </a:r>
            <a:endParaRPr lang="en-US" sz="950" dirty="0"/>
          </a:p>
        </p:txBody>
      </p:sp>
      <p:sp>
        <p:nvSpPr>
          <p:cNvPr id="9" name="Shape 7"/>
          <p:cNvSpPr/>
          <p:nvPr/>
        </p:nvSpPr>
        <p:spPr>
          <a:xfrm>
            <a:off x="182880" y="1938528"/>
            <a:ext cx="429768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0" name="Shape 8"/>
          <p:cNvSpPr/>
          <p:nvPr/>
        </p:nvSpPr>
        <p:spPr>
          <a:xfrm>
            <a:off x="182880" y="1938528"/>
            <a:ext cx="109728" cy="914400"/>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365760" y="1975104"/>
            <a:ext cx="384048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[Finance]  Dr. Vera Fiador</a:t>
            </a:r>
            <a:endParaRPr lang="en-US" sz="1050" dirty="0"/>
          </a:p>
        </p:txBody>
      </p:sp>
      <p:sp>
        <p:nvSpPr>
          <p:cNvPr id="12" name="Text 10"/>
          <p:cNvSpPr/>
          <p:nvPr/>
        </p:nvSpPr>
        <p:spPr>
          <a:xfrm>
            <a:off x="365760" y="2258568"/>
            <a:ext cx="3840480" cy="2743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Corporate Governance · Economic Growth · Earnings Management</a:t>
            </a:r>
            <a:endParaRPr lang="en-US" sz="1000" dirty="0"/>
          </a:p>
        </p:txBody>
      </p:sp>
      <p:sp>
        <p:nvSpPr>
          <p:cNvPr id="13" name="Text 11"/>
          <p:cNvSpPr/>
          <p:nvPr/>
        </p:nvSpPr>
        <p:spPr>
          <a:xfrm>
            <a:off x="365760" y="2542032"/>
            <a:ext cx="3840480" cy="2286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Method: Quantitative  |  Validation: 14.7%</a:t>
            </a:r>
            <a:endParaRPr lang="en-US" sz="950" dirty="0"/>
          </a:p>
        </p:txBody>
      </p:sp>
      <p:sp>
        <p:nvSpPr>
          <p:cNvPr id="14" name="Shape 12"/>
          <p:cNvSpPr/>
          <p:nvPr/>
        </p:nvSpPr>
        <p:spPr>
          <a:xfrm>
            <a:off x="182880" y="2962656"/>
            <a:ext cx="429768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5" name="Shape 13"/>
          <p:cNvSpPr/>
          <p:nvPr/>
        </p:nvSpPr>
        <p:spPr>
          <a:xfrm>
            <a:off x="182880" y="2962656"/>
            <a:ext cx="109728" cy="914400"/>
          </a:xfrm>
          <a:prstGeom prst="rect">
            <a:avLst/>
          </a:prstGeom>
          <a:solidFill>
            <a:srgbClr val="02C39A"/>
          </a:solidFill>
          <a:ln w="12700">
            <a:solidFill>
              <a:srgbClr val="02C39A"/>
            </a:solidFill>
            <a:prstDash val="solid"/>
          </a:ln>
        </p:spPr>
        <p:txBody>
          <a:bodyPr/>
          <a:lstStyle/>
          <a:p>
            <a:endParaRPr lang="en-US"/>
          </a:p>
        </p:txBody>
      </p:sp>
      <p:sp>
        <p:nvSpPr>
          <p:cNvPr id="16" name="Text 14"/>
          <p:cNvSpPr/>
          <p:nvPr/>
        </p:nvSpPr>
        <p:spPr>
          <a:xfrm>
            <a:off x="365760" y="2999232"/>
            <a:ext cx="384048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[HR / OHRM]  Obi Berko Obeng Damoah</a:t>
            </a:r>
            <a:endParaRPr lang="en-US" sz="1050" dirty="0"/>
          </a:p>
        </p:txBody>
      </p:sp>
      <p:sp>
        <p:nvSpPr>
          <p:cNvPr id="17" name="Text 15"/>
          <p:cNvSpPr/>
          <p:nvPr/>
        </p:nvSpPr>
        <p:spPr>
          <a:xfrm>
            <a:off x="365760" y="3282696"/>
            <a:ext cx="3840480" cy="2743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Corporate Social Responsibility · Decent Work · Business Ethics</a:t>
            </a:r>
            <a:endParaRPr lang="en-US" sz="1000" dirty="0"/>
          </a:p>
        </p:txBody>
      </p:sp>
      <p:sp>
        <p:nvSpPr>
          <p:cNvPr id="18" name="Text 16"/>
          <p:cNvSpPr/>
          <p:nvPr/>
        </p:nvSpPr>
        <p:spPr>
          <a:xfrm>
            <a:off x="365760" y="3566160"/>
            <a:ext cx="3840480" cy="2286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Method: Quantitative  |  Validation: 16.8%</a:t>
            </a:r>
            <a:endParaRPr lang="en-US" sz="950" dirty="0"/>
          </a:p>
        </p:txBody>
      </p:sp>
      <p:sp>
        <p:nvSpPr>
          <p:cNvPr id="19" name="Shape 17"/>
          <p:cNvSpPr/>
          <p:nvPr/>
        </p:nvSpPr>
        <p:spPr>
          <a:xfrm>
            <a:off x="182880" y="3986784"/>
            <a:ext cx="429768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20" name="Shape 18"/>
          <p:cNvSpPr/>
          <p:nvPr/>
        </p:nvSpPr>
        <p:spPr>
          <a:xfrm>
            <a:off x="182880" y="3986784"/>
            <a:ext cx="109728" cy="914400"/>
          </a:xfrm>
          <a:prstGeom prst="rect">
            <a:avLst/>
          </a:prstGeom>
          <a:solidFill>
            <a:srgbClr val="4A90D9"/>
          </a:solidFill>
          <a:ln w="12700">
            <a:solidFill>
              <a:srgbClr val="4A90D9"/>
            </a:solidFill>
            <a:prstDash val="solid"/>
          </a:ln>
        </p:spPr>
        <p:txBody>
          <a:bodyPr/>
          <a:lstStyle/>
          <a:p>
            <a:endParaRPr lang="en-US"/>
          </a:p>
        </p:txBody>
      </p:sp>
      <p:sp>
        <p:nvSpPr>
          <p:cNvPr id="21" name="Text 19"/>
          <p:cNvSpPr/>
          <p:nvPr/>
        </p:nvSpPr>
        <p:spPr>
          <a:xfrm>
            <a:off x="365760" y="4023360"/>
            <a:ext cx="384048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[HSM]  Prof. Lily Yarney</a:t>
            </a:r>
            <a:endParaRPr lang="en-US" sz="1050" dirty="0"/>
          </a:p>
        </p:txBody>
      </p:sp>
      <p:sp>
        <p:nvSpPr>
          <p:cNvPr id="22" name="Text 20"/>
          <p:cNvSpPr/>
          <p:nvPr/>
        </p:nvSpPr>
        <p:spPr>
          <a:xfrm>
            <a:off x="365760" y="4306824"/>
            <a:ext cx="3840480" cy="2743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Public Health · Orphan Care · Maternal Mortality</a:t>
            </a:r>
            <a:endParaRPr lang="en-US" sz="1000" dirty="0"/>
          </a:p>
        </p:txBody>
      </p:sp>
      <p:sp>
        <p:nvSpPr>
          <p:cNvPr id="23" name="Text 21"/>
          <p:cNvSpPr/>
          <p:nvPr/>
        </p:nvSpPr>
        <p:spPr>
          <a:xfrm>
            <a:off x="365760" y="4590288"/>
            <a:ext cx="3840480" cy="2286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Method: Quantitative  |  Validation: 36.4%</a:t>
            </a:r>
            <a:endParaRPr lang="en-US" sz="950" dirty="0"/>
          </a:p>
        </p:txBody>
      </p:sp>
      <p:sp>
        <p:nvSpPr>
          <p:cNvPr id="24" name="Shape 22"/>
          <p:cNvSpPr/>
          <p:nvPr/>
        </p:nvSpPr>
        <p:spPr>
          <a:xfrm>
            <a:off x="4709160" y="914400"/>
            <a:ext cx="429768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25" name="Shape 23"/>
          <p:cNvSpPr/>
          <p:nvPr/>
        </p:nvSpPr>
        <p:spPr>
          <a:xfrm>
            <a:off x="4709160" y="914400"/>
            <a:ext cx="109728" cy="914400"/>
          </a:xfrm>
          <a:prstGeom prst="rect">
            <a:avLst/>
          </a:prstGeom>
          <a:solidFill>
            <a:srgbClr val="7C3AED"/>
          </a:solidFill>
          <a:ln w="12700">
            <a:solidFill>
              <a:srgbClr val="7C3AED"/>
            </a:solidFill>
            <a:prstDash val="solid"/>
          </a:ln>
        </p:spPr>
        <p:txBody>
          <a:bodyPr/>
          <a:lstStyle/>
          <a:p>
            <a:endParaRPr lang="en-US"/>
          </a:p>
        </p:txBody>
      </p:sp>
      <p:sp>
        <p:nvSpPr>
          <p:cNvPr id="26" name="Text 24"/>
          <p:cNvSpPr/>
          <p:nvPr/>
        </p:nvSpPr>
        <p:spPr>
          <a:xfrm>
            <a:off x="4892040" y="950976"/>
            <a:ext cx="384048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[Marketing]  Prof. Mahmoud Abdulai</a:t>
            </a:r>
            <a:endParaRPr lang="en-US" sz="1050" dirty="0"/>
          </a:p>
        </p:txBody>
      </p:sp>
      <p:sp>
        <p:nvSpPr>
          <p:cNvPr id="27" name="Text 25"/>
          <p:cNvSpPr/>
          <p:nvPr/>
        </p:nvSpPr>
        <p:spPr>
          <a:xfrm>
            <a:off x="4892040" y="1234440"/>
            <a:ext cx="3840480" cy="2743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Market Orientation · Mobile Money · Customer Retention</a:t>
            </a:r>
            <a:endParaRPr lang="en-US" sz="1000" dirty="0"/>
          </a:p>
        </p:txBody>
      </p:sp>
      <p:sp>
        <p:nvSpPr>
          <p:cNvPr id="28" name="Text 26"/>
          <p:cNvSpPr/>
          <p:nvPr/>
        </p:nvSpPr>
        <p:spPr>
          <a:xfrm>
            <a:off x="4892040" y="1517904"/>
            <a:ext cx="3840480" cy="2286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Method: Quantitative  |  Validation: 28.7%</a:t>
            </a:r>
            <a:endParaRPr lang="en-US" sz="950" dirty="0"/>
          </a:p>
        </p:txBody>
      </p:sp>
      <p:sp>
        <p:nvSpPr>
          <p:cNvPr id="29" name="Shape 27"/>
          <p:cNvSpPr/>
          <p:nvPr/>
        </p:nvSpPr>
        <p:spPr>
          <a:xfrm>
            <a:off x="4709160" y="1938528"/>
            <a:ext cx="429768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30" name="Shape 28"/>
          <p:cNvSpPr/>
          <p:nvPr/>
        </p:nvSpPr>
        <p:spPr>
          <a:xfrm>
            <a:off x="4709160" y="1938528"/>
            <a:ext cx="109728" cy="914400"/>
          </a:xfrm>
          <a:prstGeom prst="rect">
            <a:avLst/>
          </a:prstGeom>
          <a:solidFill>
            <a:srgbClr val="F59E0B"/>
          </a:solidFill>
          <a:ln w="12700">
            <a:solidFill>
              <a:srgbClr val="F59E0B"/>
            </a:solidFill>
            <a:prstDash val="solid"/>
          </a:ln>
        </p:spPr>
        <p:txBody>
          <a:bodyPr/>
          <a:lstStyle/>
          <a:p>
            <a:endParaRPr lang="en-US"/>
          </a:p>
        </p:txBody>
      </p:sp>
      <p:sp>
        <p:nvSpPr>
          <p:cNvPr id="31" name="Text 29"/>
          <p:cNvSpPr/>
          <p:nvPr/>
        </p:nvSpPr>
        <p:spPr>
          <a:xfrm>
            <a:off x="4892040" y="1975104"/>
            <a:ext cx="384048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[OMIS]  Prof. Eric Afful Dadzie</a:t>
            </a:r>
            <a:endParaRPr lang="en-US" sz="1050" dirty="0"/>
          </a:p>
        </p:txBody>
      </p:sp>
      <p:sp>
        <p:nvSpPr>
          <p:cNvPr id="32" name="Text 30"/>
          <p:cNvSpPr/>
          <p:nvPr/>
        </p:nvSpPr>
        <p:spPr>
          <a:xfrm>
            <a:off x="4892040" y="2258568"/>
            <a:ext cx="3840480" cy="2743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Renewable Energy · Health Information · Open Data</a:t>
            </a:r>
            <a:endParaRPr lang="en-US" sz="1000" dirty="0"/>
          </a:p>
        </p:txBody>
      </p:sp>
      <p:sp>
        <p:nvSpPr>
          <p:cNvPr id="33" name="Text 31"/>
          <p:cNvSpPr/>
          <p:nvPr/>
        </p:nvSpPr>
        <p:spPr>
          <a:xfrm>
            <a:off x="4892040" y="2542032"/>
            <a:ext cx="3840480" cy="2286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Method: Quantitative  |  Validation: 8.6%</a:t>
            </a:r>
            <a:endParaRPr lang="en-US" sz="950" dirty="0"/>
          </a:p>
        </p:txBody>
      </p:sp>
      <p:sp>
        <p:nvSpPr>
          <p:cNvPr id="34" name="Shape 32"/>
          <p:cNvSpPr/>
          <p:nvPr/>
        </p:nvSpPr>
        <p:spPr>
          <a:xfrm>
            <a:off x="4709160" y="2962656"/>
            <a:ext cx="429768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35" name="Shape 33"/>
          <p:cNvSpPr/>
          <p:nvPr/>
        </p:nvSpPr>
        <p:spPr>
          <a:xfrm>
            <a:off x="4709160" y="2962656"/>
            <a:ext cx="109728" cy="914400"/>
          </a:xfrm>
          <a:prstGeom prst="rect">
            <a:avLst/>
          </a:prstGeom>
          <a:solidFill>
            <a:srgbClr val="EF4444"/>
          </a:solidFill>
          <a:ln w="12700">
            <a:solidFill>
              <a:srgbClr val="EF4444"/>
            </a:solidFill>
            <a:prstDash val="solid"/>
          </a:ln>
        </p:spPr>
        <p:txBody>
          <a:bodyPr/>
          <a:lstStyle/>
          <a:p>
            <a:endParaRPr lang="en-US"/>
          </a:p>
        </p:txBody>
      </p:sp>
      <p:sp>
        <p:nvSpPr>
          <p:cNvPr id="36" name="Text 34"/>
          <p:cNvSpPr/>
          <p:nvPr/>
        </p:nvSpPr>
        <p:spPr>
          <a:xfrm>
            <a:off x="4892040" y="2999232"/>
            <a:ext cx="384048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[Public Admin]  Prof. Albert Ahenkan</a:t>
            </a:r>
            <a:endParaRPr lang="en-US" sz="1050" dirty="0"/>
          </a:p>
        </p:txBody>
      </p:sp>
      <p:sp>
        <p:nvSpPr>
          <p:cNvPr id="37" name="Text 35"/>
          <p:cNvSpPr/>
          <p:nvPr/>
        </p:nvSpPr>
        <p:spPr>
          <a:xfrm>
            <a:off x="4892040" y="3282696"/>
            <a:ext cx="3840480" cy="2743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Renewable Energy · Climate Change · Performance Mgmt</a:t>
            </a:r>
            <a:endParaRPr lang="en-US" sz="1000" dirty="0"/>
          </a:p>
        </p:txBody>
      </p:sp>
      <p:sp>
        <p:nvSpPr>
          <p:cNvPr id="38" name="Text 36"/>
          <p:cNvSpPr/>
          <p:nvPr/>
        </p:nvSpPr>
        <p:spPr>
          <a:xfrm>
            <a:off x="4892040" y="3566160"/>
            <a:ext cx="3840480" cy="2286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Method: Quantitative  |  Validation: 44.2%</a:t>
            </a:r>
            <a:endParaRPr lang="en-US" sz="950" dirty="0"/>
          </a:p>
        </p:txBody>
      </p:sp>
      <p:sp>
        <p:nvSpPr>
          <p:cNvPr id="39" name="Text 37"/>
          <p:cNvSpPr/>
          <p:nvPr/>
        </p:nvSpPr>
        <p:spPr>
          <a:xfrm>
            <a:off x="4709160" y="4983480"/>
            <a:ext cx="4114800" cy="201168"/>
          </a:xfrm>
          <a:prstGeom prst="rect">
            <a:avLst/>
          </a:prstGeom>
          <a:noFill/>
          <a:ln/>
        </p:spPr>
        <p:txBody>
          <a:bodyPr wrap="square" rtlCol="0" anchor="ctr"/>
          <a:lstStyle/>
          <a:p>
            <a:pPr marL="0" indent="0" algn="r">
              <a:buNone/>
            </a:pPr>
            <a:endParaRPr lang="en-US" sz="900" dirty="0"/>
          </a:p>
        </p:txBody>
      </p:sp>
      <p:sp>
        <p:nvSpPr>
          <p:cNvPr id="40" name="Shape 38"/>
          <p:cNvSpPr/>
          <p:nvPr/>
        </p:nvSpPr>
        <p:spPr>
          <a:xfrm>
            <a:off x="274320" y="4892040"/>
            <a:ext cx="8595360" cy="0"/>
          </a:xfrm>
          <a:prstGeom prst="line">
            <a:avLst/>
          </a:prstGeom>
          <a:noFill/>
          <a:ln w="12700">
            <a:solidFill>
              <a:srgbClr val="CBD5E1"/>
            </a:solidFill>
            <a:prstDash val="solid"/>
          </a:ln>
        </p:spPr>
        <p:txBody>
          <a:bodyPr/>
          <a:lstStyle/>
          <a:p>
            <a:endParaRPr lang="en-US"/>
          </a:p>
        </p:txBody>
      </p:sp>
      <p:sp>
        <p:nvSpPr>
          <p:cNvPr id="41" name="Text 39"/>
          <p:cNvSpPr/>
          <p:nvPr/>
        </p:nvSpPr>
        <p:spPr>
          <a:xfrm>
            <a:off x="274320" y="4910328"/>
            <a:ext cx="8595360" cy="201168"/>
          </a:xfrm>
          <a:prstGeom prst="rect">
            <a:avLst/>
          </a:prstGeom>
          <a:noFill/>
          <a:ln/>
        </p:spPr>
        <p:txBody>
          <a:bodyPr wrap="square" rtlCol="0" anchor="ctr"/>
          <a:lstStyle/>
          <a:p>
            <a:pPr marL="0" indent="0" algn="ctr">
              <a:buNone/>
            </a:pPr>
            <a:r>
              <a:rPr lang="en-US" sz="900" i="1" dirty="0">
                <a:solidFill>
                  <a:srgbClr val="028090"/>
                </a:solidFill>
                <a:latin typeface="Calibri" pitchFamily="34" charset="0"/>
                <a:ea typeface="Calibri" pitchFamily="34" charset="-122"/>
                <a:cs typeface="Calibri" pitchFamily="34" charset="-120"/>
              </a:rPr>
              <a:t>All 7 HODs processed 20 papers each. Primary method: Quantitative. All oriented toward Applied research.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1E22CE2-A066-2A20-6356-B2AE729B8610}"/>
              </a:ext>
            </a:extLst>
          </p:cNvPr>
          <p:cNvPicPr>
            <a:picLocks noChangeAspect="1"/>
          </p:cNvPicPr>
          <p:nvPr/>
        </p:nvPicPr>
        <p:blipFill>
          <a:blip r:embed="rId3"/>
          <a:srcRect t="52399" r="64486" b="23961"/>
          <a:stretch>
            <a:fillRect/>
          </a:stretch>
        </p:blipFill>
        <p:spPr>
          <a:xfrm>
            <a:off x="62348" y="2686680"/>
            <a:ext cx="2414485" cy="2388945"/>
          </a:xfrm>
          <a:prstGeom prst="rect">
            <a:avLst/>
          </a:prstGeom>
        </p:spPr>
      </p:pic>
      <p:grpSp>
        <p:nvGrpSpPr>
          <p:cNvPr id="6" name="Group 5">
            <a:extLst>
              <a:ext uri="{FF2B5EF4-FFF2-40B4-BE49-F238E27FC236}">
                <a16:creationId xmlns:a16="http://schemas.microsoft.com/office/drawing/2014/main" id="{10E402F0-CB82-B531-29F2-B9802E9CB082}"/>
              </a:ext>
            </a:extLst>
          </p:cNvPr>
          <p:cNvGrpSpPr/>
          <p:nvPr/>
        </p:nvGrpSpPr>
        <p:grpSpPr>
          <a:xfrm>
            <a:off x="0" y="0"/>
            <a:ext cx="2545296" cy="2709540"/>
            <a:chOff x="0" y="-22860"/>
            <a:chExt cx="2424793" cy="5166360"/>
          </a:xfrm>
        </p:grpSpPr>
        <p:sp>
          <p:nvSpPr>
            <p:cNvPr id="2" name="Shape 0"/>
            <p:cNvSpPr/>
            <p:nvPr/>
          </p:nvSpPr>
          <p:spPr>
            <a:xfrm>
              <a:off x="0" y="-22860"/>
              <a:ext cx="2424793" cy="5166360"/>
            </a:xfrm>
            <a:prstGeom prst="rect">
              <a:avLst/>
            </a:prstGeom>
            <a:solidFill>
              <a:srgbClr val="1B3A6B"/>
            </a:solidFill>
            <a:ln w="12700">
              <a:solidFill>
                <a:srgbClr val="1B3A6B"/>
              </a:solidFill>
              <a:prstDash val="solid"/>
            </a:ln>
          </p:spPr>
          <p:txBody>
            <a:bodyPr/>
            <a:lstStyle/>
            <a:p>
              <a:endParaRPr lang="en-US" dirty="0"/>
            </a:p>
          </p:txBody>
        </p:sp>
        <p:sp>
          <p:nvSpPr>
            <p:cNvPr id="3" name="Text 1"/>
            <p:cNvSpPr/>
            <p:nvPr/>
          </p:nvSpPr>
          <p:spPr>
            <a:xfrm>
              <a:off x="130629" y="839369"/>
              <a:ext cx="2294164" cy="1022086"/>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05 · LDA Topic Distributions per HOD</a:t>
              </a:r>
              <a:endParaRPr lang="en-US" sz="2400" dirty="0"/>
            </a:p>
          </p:txBody>
        </p:sp>
      </p:grpSp>
      <p:sp>
        <p:nvSpPr>
          <p:cNvPr id="5" name="Text 2"/>
          <p:cNvSpPr/>
          <p:nvPr/>
        </p:nvSpPr>
        <p:spPr>
          <a:xfrm>
            <a:off x="130629" y="1294926"/>
            <a:ext cx="1953873" cy="1276823"/>
          </a:xfrm>
          <a:prstGeom prst="rect">
            <a:avLst/>
          </a:prstGeom>
          <a:noFill/>
          <a:ln/>
        </p:spPr>
        <p:txBody>
          <a:bodyPr wrap="square" rtlCol="0" anchor="ctr"/>
          <a:lstStyle/>
          <a:p>
            <a:pPr marL="0" indent="0" algn="ctr">
              <a:buNone/>
            </a:pPr>
            <a:r>
              <a:rPr lang="en-US" sz="900" i="1" dirty="0">
                <a:solidFill>
                  <a:schemeClr val="bg1"/>
                </a:solidFill>
                <a:latin typeface="Calibri" pitchFamily="34" charset="0"/>
                <a:ea typeface="Calibri" pitchFamily="34" charset="-122"/>
                <a:cs typeface="Calibri" pitchFamily="34" charset="-120"/>
              </a:rPr>
              <a:t>Each pie shows the proportional weight of LDA topics (T1–T4) within that HOD's 20-paper corpus</a:t>
            </a:r>
            <a:endParaRPr lang="en-US" sz="900" dirty="0">
              <a:solidFill>
                <a:schemeClr val="bg1"/>
              </a:solidFill>
            </a:endParaRPr>
          </a:p>
        </p:txBody>
      </p:sp>
      <p:pic>
        <p:nvPicPr>
          <p:cNvPr id="8" name="Picture 7">
            <a:extLst>
              <a:ext uri="{FF2B5EF4-FFF2-40B4-BE49-F238E27FC236}">
                <a16:creationId xmlns:a16="http://schemas.microsoft.com/office/drawing/2014/main" id="{B6815308-2FC0-FE4A-7115-18D378785CF2}"/>
              </a:ext>
            </a:extLst>
          </p:cNvPr>
          <p:cNvPicPr>
            <a:picLocks noChangeAspect="1"/>
          </p:cNvPicPr>
          <p:nvPr/>
        </p:nvPicPr>
        <p:blipFill>
          <a:blip r:embed="rId3"/>
          <a:srcRect l="1269" t="4789" r="64923" b="71269"/>
          <a:stretch>
            <a:fillRect/>
          </a:stretch>
        </p:blipFill>
        <p:spPr>
          <a:xfrm>
            <a:off x="2582469" y="43167"/>
            <a:ext cx="2270669" cy="2354318"/>
          </a:xfrm>
          <a:prstGeom prst="rect">
            <a:avLst/>
          </a:prstGeom>
        </p:spPr>
      </p:pic>
      <p:pic>
        <p:nvPicPr>
          <p:cNvPr id="9" name="Picture 8">
            <a:extLst>
              <a:ext uri="{FF2B5EF4-FFF2-40B4-BE49-F238E27FC236}">
                <a16:creationId xmlns:a16="http://schemas.microsoft.com/office/drawing/2014/main" id="{44CB5BFD-04F4-7AE3-2FB9-033185FFE8AC}"/>
              </a:ext>
            </a:extLst>
          </p:cNvPr>
          <p:cNvPicPr>
            <a:picLocks noChangeAspect="1"/>
          </p:cNvPicPr>
          <p:nvPr/>
        </p:nvPicPr>
        <p:blipFill>
          <a:blip r:embed="rId3"/>
          <a:srcRect l="54173" t="4558" r="11254" b="71143"/>
          <a:stretch>
            <a:fillRect/>
          </a:stretch>
        </p:blipFill>
        <p:spPr>
          <a:xfrm>
            <a:off x="6855445" y="43167"/>
            <a:ext cx="2288555" cy="2354318"/>
          </a:xfrm>
          <a:prstGeom prst="rect">
            <a:avLst/>
          </a:prstGeom>
        </p:spPr>
      </p:pic>
      <p:pic>
        <p:nvPicPr>
          <p:cNvPr id="10" name="Picture 9">
            <a:extLst>
              <a:ext uri="{FF2B5EF4-FFF2-40B4-BE49-F238E27FC236}">
                <a16:creationId xmlns:a16="http://schemas.microsoft.com/office/drawing/2014/main" id="{27BA4B01-EF6D-CD6C-8318-80F4D94B4833}"/>
              </a:ext>
            </a:extLst>
          </p:cNvPr>
          <p:cNvPicPr>
            <a:picLocks noChangeAspect="1"/>
          </p:cNvPicPr>
          <p:nvPr/>
        </p:nvPicPr>
        <p:blipFill>
          <a:blip r:embed="rId3"/>
          <a:srcRect l="3327" t="28760" r="67352" b="47600"/>
          <a:stretch>
            <a:fillRect/>
          </a:stretch>
        </p:blipFill>
        <p:spPr>
          <a:xfrm>
            <a:off x="7172076" y="2718356"/>
            <a:ext cx="1971923" cy="2358386"/>
          </a:xfrm>
          <a:prstGeom prst="rect">
            <a:avLst/>
          </a:prstGeom>
        </p:spPr>
      </p:pic>
      <p:pic>
        <p:nvPicPr>
          <p:cNvPr id="11" name="Picture 10">
            <a:extLst>
              <a:ext uri="{FF2B5EF4-FFF2-40B4-BE49-F238E27FC236}">
                <a16:creationId xmlns:a16="http://schemas.microsoft.com/office/drawing/2014/main" id="{8D149BAA-01E2-F5A4-3EDE-B69518D639F9}"/>
              </a:ext>
            </a:extLst>
          </p:cNvPr>
          <p:cNvPicPr>
            <a:picLocks noChangeAspect="1"/>
          </p:cNvPicPr>
          <p:nvPr/>
        </p:nvPicPr>
        <p:blipFill>
          <a:blip r:embed="rId3"/>
          <a:srcRect l="56560" t="28760" r="13200" b="47735"/>
          <a:stretch>
            <a:fillRect/>
          </a:stretch>
        </p:blipFill>
        <p:spPr>
          <a:xfrm>
            <a:off x="4890311" y="43167"/>
            <a:ext cx="2046151" cy="2328558"/>
          </a:xfrm>
          <a:prstGeom prst="rect">
            <a:avLst/>
          </a:prstGeom>
        </p:spPr>
      </p:pic>
      <p:pic>
        <p:nvPicPr>
          <p:cNvPr id="12" name="Picture 11">
            <a:extLst>
              <a:ext uri="{FF2B5EF4-FFF2-40B4-BE49-F238E27FC236}">
                <a16:creationId xmlns:a16="http://schemas.microsoft.com/office/drawing/2014/main" id="{1E3CC5D0-4518-ECD1-94AA-FEC23BCE4D00}"/>
              </a:ext>
            </a:extLst>
          </p:cNvPr>
          <p:cNvPicPr>
            <a:picLocks noChangeAspect="1"/>
          </p:cNvPicPr>
          <p:nvPr/>
        </p:nvPicPr>
        <p:blipFill>
          <a:blip r:embed="rId3"/>
          <a:srcRect l="56327" t="52400" r="13215" b="24223"/>
          <a:stretch>
            <a:fillRect/>
          </a:stretch>
        </p:blipFill>
        <p:spPr>
          <a:xfrm>
            <a:off x="2582469" y="2718355"/>
            <a:ext cx="2069486" cy="2325597"/>
          </a:xfrm>
          <a:prstGeom prst="rect">
            <a:avLst/>
          </a:prstGeom>
        </p:spPr>
      </p:pic>
      <p:pic>
        <p:nvPicPr>
          <p:cNvPr id="13" name="Picture 12">
            <a:extLst>
              <a:ext uri="{FF2B5EF4-FFF2-40B4-BE49-F238E27FC236}">
                <a16:creationId xmlns:a16="http://schemas.microsoft.com/office/drawing/2014/main" id="{6DCF583F-18FE-B838-1E3B-E22C28394939}"/>
              </a:ext>
            </a:extLst>
          </p:cNvPr>
          <p:cNvPicPr>
            <a:picLocks noChangeAspect="1"/>
          </p:cNvPicPr>
          <p:nvPr/>
        </p:nvPicPr>
        <p:blipFill>
          <a:blip r:embed="rId3"/>
          <a:srcRect t="76577" r="64486"/>
          <a:stretch>
            <a:fillRect/>
          </a:stretch>
        </p:blipFill>
        <p:spPr>
          <a:xfrm>
            <a:off x="4718598" y="2771776"/>
            <a:ext cx="2386835" cy="23049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772E82D-905C-B753-14F2-6D967E7906E9}"/>
              </a:ext>
            </a:extLst>
          </p:cNvPr>
          <p:cNvPicPr>
            <a:picLocks noChangeAspect="1"/>
          </p:cNvPicPr>
          <p:nvPr/>
        </p:nvPicPr>
        <p:blipFill>
          <a:blip r:embed="rId3"/>
          <a:stretch>
            <a:fillRect/>
          </a:stretch>
        </p:blipFill>
        <p:spPr>
          <a:xfrm>
            <a:off x="1" y="0"/>
            <a:ext cx="9144000" cy="5190668"/>
          </a:xfrm>
          <a:prstGeom prst="rect">
            <a:avLst/>
          </a:prstGeom>
        </p:spPr>
      </p:pic>
      <p:grpSp>
        <p:nvGrpSpPr>
          <p:cNvPr id="22" name="Group 21">
            <a:extLst>
              <a:ext uri="{FF2B5EF4-FFF2-40B4-BE49-F238E27FC236}">
                <a16:creationId xmlns:a16="http://schemas.microsoft.com/office/drawing/2014/main" id="{10F9C6C4-1BF1-34FE-46D8-4E84E5E8F76C}"/>
              </a:ext>
            </a:extLst>
          </p:cNvPr>
          <p:cNvGrpSpPr/>
          <p:nvPr/>
        </p:nvGrpSpPr>
        <p:grpSpPr>
          <a:xfrm>
            <a:off x="5897879" y="1639261"/>
            <a:ext cx="3201652" cy="3112352"/>
            <a:chOff x="5806439" y="868680"/>
            <a:chExt cx="3291839" cy="3882934"/>
          </a:xfrm>
        </p:grpSpPr>
        <p:grpSp>
          <p:nvGrpSpPr>
            <p:cNvPr id="21" name="Group 20">
              <a:extLst>
                <a:ext uri="{FF2B5EF4-FFF2-40B4-BE49-F238E27FC236}">
                  <a16:creationId xmlns:a16="http://schemas.microsoft.com/office/drawing/2014/main" id="{75064026-73A4-E236-B138-162E52E9AC28}"/>
                </a:ext>
              </a:extLst>
            </p:cNvPr>
            <p:cNvGrpSpPr/>
            <p:nvPr/>
          </p:nvGrpSpPr>
          <p:grpSpPr>
            <a:xfrm>
              <a:off x="5806440" y="868680"/>
              <a:ext cx="3200400" cy="3882934"/>
              <a:chOff x="5806440" y="868680"/>
              <a:chExt cx="3200400" cy="3882934"/>
            </a:xfrm>
          </p:grpSpPr>
          <p:sp>
            <p:nvSpPr>
              <p:cNvPr id="5" name="Shape 2"/>
              <p:cNvSpPr/>
              <p:nvPr/>
            </p:nvSpPr>
            <p:spPr>
              <a:xfrm>
                <a:off x="5806440" y="868680"/>
                <a:ext cx="3200400" cy="3882934"/>
              </a:xfrm>
              <a:prstGeom prst="rect">
                <a:avLst/>
              </a:prstGeom>
              <a:solidFill>
                <a:srgbClr val="E0F2F7"/>
              </a:solidFill>
              <a:ln w="12700">
                <a:solidFill>
                  <a:srgbClr val="CBD5E1"/>
                </a:solidFill>
                <a:prstDash val="solid"/>
              </a:ln>
            </p:spPr>
            <p:txBody>
              <a:bodyPr/>
              <a:lstStyle/>
              <a:p>
                <a:endParaRPr lang="en-US" dirty="0"/>
              </a:p>
            </p:txBody>
          </p:sp>
          <p:sp>
            <p:nvSpPr>
              <p:cNvPr id="6" name="Text 3"/>
              <p:cNvSpPr/>
              <p:nvPr/>
            </p:nvSpPr>
            <p:spPr>
              <a:xfrm>
                <a:off x="5806440" y="868680"/>
                <a:ext cx="3200400" cy="384048"/>
              </a:xfrm>
              <a:prstGeom prst="rect">
                <a:avLst/>
              </a:prstGeom>
              <a:noFill/>
              <a:ln/>
            </p:spPr>
            <p:txBody>
              <a:bodyPr wrap="square" rtlCol="0" anchor="ctr"/>
              <a:lstStyle/>
              <a:p>
                <a:pPr marL="0" indent="0" algn="ctr">
                  <a:buNone/>
                </a:pPr>
                <a:r>
                  <a:rPr lang="en-US" sz="1300" b="1" dirty="0">
                    <a:solidFill>
                      <a:srgbClr val="1B3A6B"/>
                    </a:solidFill>
                    <a:latin typeface="Trebuchet MS" pitchFamily="34" charset="0"/>
                    <a:ea typeface="Trebuchet MS" pitchFamily="34" charset="-122"/>
                    <a:cs typeface="Trebuchet MS" pitchFamily="34" charset="-120"/>
                  </a:rPr>
                  <a:t>5 Research Pillars</a:t>
                </a:r>
                <a:endParaRPr lang="en-US" sz="1300" dirty="0"/>
              </a:p>
            </p:txBody>
          </p:sp>
        </p:grpSp>
        <p:sp>
          <p:nvSpPr>
            <p:cNvPr id="7" name="Text 4"/>
            <p:cNvSpPr/>
            <p:nvPr/>
          </p:nvSpPr>
          <p:spPr>
            <a:xfrm>
              <a:off x="5806441" y="1269399"/>
              <a:ext cx="3200399" cy="297602"/>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  Corporate Governance &amp; Financial Systems</a:t>
              </a:r>
              <a:endParaRPr lang="en-US" sz="1050" dirty="0"/>
            </a:p>
          </p:txBody>
        </p:sp>
        <p:sp>
          <p:nvSpPr>
            <p:cNvPr id="8" name="Text 5"/>
            <p:cNvSpPr/>
            <p:nvPr/>
          </p:nvSpPr>
          <p:spPr>
            <a:xfrm>
              <a:off x="5806439" y="1549485"/>
              <a:ext cx="3200400" cy="274320"/>
            </a:xfrm>
            <a:prstGeom prst="rect">
              <a:avLst/>
            </a:prstGeom>
            <a:noFill/>
            <a:ln/>
          </p:spPr>
          <p:txBody>
            <a:bodyPr wrap="square" rtlCol="0" anchor="ctr"/>
            <a:lstStyle/>
            <a:p>
              <a:r>
                <a:rPr lang="en-US" sz="1000" dirty="0">
                  <a:solidFill>
                    <a:schemeClr val="tx2">
                      <a:lumMod val="60000"/>
                      <a:lumOff val="40000"/>
                    </a:schemeClr>
                  </a:solidFill>
                </a:rPr>
                <a:t>firm, financial, bank, board, management, resource, cost</a:t>
              </a:r>
              <a:endParaRPr lang="en-US" sz="950" dirty="0">
                <a:solidFill>
                  <a:schemeClr val="tx2">
                    <a:lumMod val="60000"/>
                    <a:lumOff val="40000"/>
                  </a:schemeClr>
                </a:solidFill>
              </a:endParaRPr>
            </a:p>
          </p:txBody>
        </p:sp>
        <p:sp>
          <p:nvSpPr>
            <p:cNvPr id="9" name="Text 6"/>
            <p:cNvSpPr/>
            <p:nvPr/>
          </p:nvSpPr>
          <p:spPr>
            <a:xfrm>
              <a:off x="5806441" y="1965960"/>
              <a:ext cx="3108959"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  Business Operations &amp; Market Dynamics</a:t>
              </a:r>
              <a:endParaRPr lang="en-US" sz="1050" dirty="0"/>
            </a:p>
          </p:txBody>
        </p:sp>
        <p:sp>
          <p:nvSpPr>
            <p:cNvPr id="10" name="Text 7"/>
            <p:cNvSpPr/>
            <p:nvPr/>
          </p:nvSpPr>
          <p:spPr>
            <a:xfrm>
              <a:off x="5897879" y="2359153"/>
              <a:ext cx="3200399" cy="155447"/>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Market, service, customer, business, value, performance</a:t>
              </a:r>
              <a:endParaRPr lang="en-US" sz="950" dirty="0"/>
            </a:p>
          </p:txBody>
        </p:sp>
        <p:sp>
          <p:nvSpPr>
            <p:cNvPr id="11" name="Text 8"/>
            <p:cNvSpPr/>
            <p:nvPr/>
          </p:nvSpPr>
          <p:spPr>
            <a:xfrm>
              <a:off x="5897880" y="2633472"/>
              <a:ext cx="301752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 Health &amp; CSR </a:t>
              </a:r>
              <a:endParaRPr lang="en-US" sz="1050" dirty="0"/>
            </a:p>
          </p:txBody>
        </p:sp>
        <p:sp>
          <p:nvSpPr>
            <p:cNvPr id="12" name="Text 9"/>
            <p:cNvSpPr/>
            <p:nvPr/>
          </p:nvSpPr>
          <p:spPr>
            <a:xfrm>
              <a:off x="5897880" y="2907792"/>
              <a:ext cx="301752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Social, health , factor</a:t>
              </a:r>
              <a:endParaRPr lang="en-US" sz="950" dirty="0"/>
            </a:p>
          </p:txBody>
        </p:sp>
        <p:sp>
          <p:nvSpPr>
            <p:cNvPr id="13" name="Text 10"/>
            <p:cNvSpPr/>
            <p:nvPr/>
          </p:nvSpPr>
          <p:spPr>
            <a:xfrm>
              <a:off x="5897880" y="3300984"/>
              <a:ext cx="301752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  Digital Services &amp; Innovation</a:t>
              </a:r>
              <a:endParaRPr lang="en-US" sz="1050" dirty="0"/>
            </a:p>
          </p:txBody>
        </p:sp>
        <p:sp>
          <p:nvSpPr>
            <p:cNvPr id="14" name="Text 11"/>
            <p:cNvSpPr/>
            <p:nvPr/>
          </p:nvSpPr>
          <p:spPr>
            <a:xfrm>
              <a:off x="5897880" y="3575304"/>
              <a:ext cx="301752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Data, system, information, level</a:t>
              </a:r>
              <a:endParaRPr lang="en-US" sz="950" dirty="0"/>
            </a:p>
          </p:txBody>
        </p:sp>
        <p:sp>
          <p:nvSpPr>
            <p:cNvPr id="15" name="Text 12"/>
            <p:cNvSpPr/>
            <p:nvPr/>
          </p:nvSpPr>
          <p:spPr>
            <a:xfrm>
              <a:off x="5897880" y="3968496"/>
              <a:ext cx="3017520" cy="274320"/>
            </a:xfrm>
            <a:prstGeom prst="rect">
              <a:avLst/>
            </a:prstGeom>
            <a:noFill/>
            <a:ln/>
          </p:spPr>
          <p:txBody>
            <a:bodyPr wrap="square" rtlCol="0" anchor="ctr"/>
            <a:lstStyle/>
            <a:p>
              <a:pPr marL="0" indent="0">
                <a:buNone/>
              </a:pPr>
              <a:r>
                <a:rPr lang="en-US" sz="1050" b="1" dirty="0">
                  <a:solidFill>
                    <a:srgbClr val="1B3A6B"/>
                  </a:solidFill>
                  <a:latin typeface="Trebuchet MS" pitchFamily="34" charset="0"/>
                  <a:ea typeface="Trebuchet MS" pitchFamily="34" charset="-122"/>
                  <a:cs typeface="Trebuchet MS" pitchFamily="34" charset="-120"/>
                </a:rPr>
                <a:t>🌱  Economic Development &amp; Policy</a:t>
              </a:r>
              <a:endParaRPr lang="en-US" sz="1050" dirty="0"/>
            </a:p>
          </p:txBody>
        </p:sp>
        <p:sp>
          <p:nvSpPr>
            <p:cNvPr id="16" name="Text 13"/>
            <p:cNvSpPr/>
            <p:nvPr/>
          </p:nvSpPr>
          <p:spPr>
            <a:xfrm>
              <a:off x="5897880" y="4242816"/>
              <a:ext cx="301752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Country, economic, development, growth, policy, government, </a:t>
              </a:r>
              <a:r>
                <a:rPr lang="en-US" sz="950" dirty="0" err="1">
                  <a:solidFill>
                    <a:srgbClr val="64748B"/>
                  </a:solidFill>
                  <a:latin typeface="Calibri" pitchFamily="34" charset="0"/>
                  <a:ea typeface="Calibri" pitchFamily="34" charset="-122"/>
                  <a:cs typeface="Calibri" pitchFamily="34" charset="-120"/>
                </a:rPr>
                <a:t>srector</a:t>
              </a:r>
              <a:endParaRPr lang="en-US" sz="95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CDBA343-7C20-0E89-6568-49312F25C0F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CCDC90-A9AC-5199-AA80-2AEE227150E4}"/>
              </a:ext>
            </a:extLst>
          </p:cNvPr>
          <p:cNvPicPr>
            <a:picLocks noChangeAspect="1"/>
          </p:cNvPicPr>
          <p:nvPr/>
        </p:nvPicPr>
        <p:blipFill>
          <a:blip r:embed="rId3"/>
          <a:stretch>
            <a:fillRect/>
          </a:stretch>
        </p:blipFill>
        <p:spPr>
          <a:xfrm>
            <a:off x="0" y="0"/>
            <a:ext cx="9144000" cy="5143500"/>
          </a:xfrm>
          <a:prstGeom prst="rect">
            <a:avLst/>
          </a:prstGeom>
        </p:spPr>
      </p:pic>
      <p:grpSp>
        <p:nvGrpSpPr>
          <p:cNvPr id="22" name="Group 21">
            <a:extLst>
              <a:ext uri="{FF2B5EF4-FFF2-40B4-BE49-F238E27FC236}">
                <a16:creationId xmlns:a16="http://schemas.microsoft.com/office/drawing/2014/main" id="{9F924981-B32A-50EC-CDB7-E1B4816451D6}"/>
              </a:ext>
            </a:extLst>
          </p:cNvPr>
          <p:cNvGrpSpPr/>
          <p:nvPr/>
        </p:nvGrpSpPr>
        <p:grpSpPr>
          <a:xfrm>
            <a:off x="3068053" y="3573379"/>
            <a:ext cx="6075947" cy="1571663"/>
            <a:chOff x="5806440" y="868680"/>
            <a:chExt cx="3200400" cy="3882934"/>
          </a:xfrm>
        </p:grpSpPr>
        <p:sp>
          <p:nvSpPr>
            <p:cNvPr id="5" name="Shape 2">
              <a:extLst>
                <a:ext uri="{FF2B5EF4-FFF2-40B4-BE49-F238E27FC236}">
                  <a16:creationId xmlns:a16="http://schemas.microsoft.com/office/drawing/2014/main" id="{2DAC155E-9C9E-1219-C6B2-C8DC7C658E3B}"/>
                </a:ext>
              </a:extLst>
            </p:cNvPr>
            <p:cNvSpPr/>
            <p:nvPr/>
          </p:nvSpPr>
          <p:spPr>
            <a:xfrm>
              <a:off x="5806440" y="868680"/>
              <a:ext cx="3200400" cy="3882934"/>
            </a:xfrm>
            <a:prstGeom prst="rect">
              <a:avLst/>
            </a:prstGeom>
            <a:solidFill>
              <a:srgbClr val="E0F2F7"/>
            </a:solidFill>
            <a:ln w="12700">
              <a:solidFill>
                <a:srgbClr val="CBD5E1"/>
              </a:solidFill>
              <a:prstDash val="solid"/>
            </a:ln>
          </p:spPr>
          <p:txBody>
            <a:bodyPr/>
            <a:lstStyle/>
            <a:p>
              <a:endParaRPr lang="en-US" dirty="0"/>
            </a:p>
          </p:txBody>
        </p:sp>
        <p:sp>
          <p:nvSpPr>
            <p:cNvPr id="7" name="Text 4">
              <a:extLst>
                <a:ext uri="{FF2B5EF4-FFF2-40B4-BE49-F238E27FC236}">
                  <a16:creationId xmlns:a16="http://schemas.microsoft.com/office/drawing/2014/main" id="{EBDBC150-AE5D-82BC-970E-20003AE2C5C7}"/>
                </a:ext>
              </a:extLst>
            </p:cNvPr>
            <p:cNvSpPr/>
            <p:nvPr/>
          </p:nvSpPr>
          <p:spPr>
            <a:xfrm>
              <a:off x="5806440" y="868682"/>
              <a:ext cx="3108960" cy="3879122"/>
            </a:xfrm>
            <a:prstGeom prst="rect">
              <a:avLst/>
            </a:prstGeom>
            <a:noFill/>
            <a:ln/>
          </p:spPr>
          <p:txBody>
            <a:bodyPr wrap="square" rtlCol="0" anchor="ctr"/>
            <a:lstStyle/>
            <a:p>
              <a:r>
                <a:rPr lang="en-US" sz="1200" dirty="0">
                  <a:solidFill>
                    <a:schemeClr val="accent1">
                      <a:lumMod val="50000"/>
                    </a:schemeClr>
                  </a:solidFill>
                </a:rPr>
                <a:t>The word clouds highlight distinct research priorities across departments, with each HOD demonstrating a clearly defined thematic focus. Accounting emphasizes financial reporting and firm behavior, Finance focuses on governance and economic growth, HR centers on employee wellbeing and organizational management, while HSM is strongly oriented toward health outcomes and patient care. Marketing prioritizes customer behavior and market orientation, OMIS focuses on energy systems and data-driven decision-making, and Public Administration emphasizes policy, development, and governance.</a:t>
              </a:r>
            </a:p>
          </p:txBody>
        </p:sp>
        <p:sp>
          <p:nvSpPr>
            <p:cNvPr id="11" name="Text 8">
              <a:extLst>
                <a:ext uri="{FF2B5EF4-FFF2-40B4-BE49-F238E27FC236}">
                  <a16:creationId xmlns:a16="http://schemas.microsoft.com/office/drawing/2014/main" id="{AF92A6E9-70C9-7614-A5A5-4A3616B06639}"/>
                </a:ext>
              </a:extLst>
            </p:cNvPr>
            <p:cNvSpPr/>
            <p:nvPr/>
          </p:nvSpPr>
          <p:spPr>
            <a:xfrm>
              <a:off x="5897880" y="2633472"/>
              <a:ext cx="3017520" cy="274320"/>
            </a:xfrm>
            <a:prstGeom prst="rect">
              <a:avLst/>
            </a:prstGeom>
            <a:noFill/>
            <a:ln/>
          </p:spPr>
          <p:txBody>
            <a:bodyPr wrap="square" rtlCol="0" anchor="ctr"/>
            <a:lstStyle/>
            <a:p>
              <a:pPr marL="0" indent="0">
                <a:buNone/>
              </a:pPr>
              <a:endParaRPr lang="en-US" sz="1050" dirty="0"/>
            </a:p>
          </p:txBody>
        </p:sp>
      </p:grpSp>
    </p:spTree>
    <p:extLst>
      <p:ext uri="{BB962C8B-B14F-4D97-AF65-F5344CB8AC3E}">
        <p14:creationId xmlns:p14="http://schemas.microsoft.com/office/powerpoint/2010/main" val="2053633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BE1AE3-5C00-D3B9-6B1F-311D50836F1C}"/>
              </a:ext>
            </a:extLst>
          </p:cNvPr>
          <p:cNvSpPr txBox="1"/>
          <p:nvPr/>
        </p:nvSpPr>
        <p:spPr>
          <a:xfrm>
            <a:off x="0" y="352926"/>
            <a:ext cx="3434786" cy="646331"/>
          </a:xfrm>
          <a:prstGeom prst="rect">
            <a:avLst/>
          </a:prstGeom>
          <a:noFill/>
        </p:spPr>
        <p:txBody>
          <a:bodyPr wrap="none" rtlCol="0">
            <a:spAutoFit/>
          </a:bodyPr>
          <a:lstStyle/>
          <a:p>
            <a:r>
              <a:rPr lang="en-US" b="1" dirty="0"/>
              <a:t>Q(a) · Dominant Research Themes</a:t>
            </a:r>
            <a:endParaRPr lang="en-US" dirty="0"/>
          </a:p>
          <a:p>
            <a:endParaRPr lang="en-US" dirty="0"/>
          </a:p>
        </p:txBody>
      </p:sp>
      <p:pic>
        <p:nvPicPr>
          <p:cNvPr id="4" name="Picture 3">
            <a:extLst>
              <a:ext uri="{FF2B5EF4-FFF2-40B4-BE49-F238E27FC236}">
                <a16:creationId xmlns:a16="http://schemas.microsoft.com/office/drawing/2014/main" id="{7888617F-9466-CF06-3B92-0E69C86A3287}"/>
              </a:ext>
            </a:extLst>
          </p:cNvPr>
          <p:cNvPicPr>
            <a:picLocks noChangeAspect="1"/>
          </p:cNvPicPr>
          <p:nvPr/>
        </p:nvPicPr>
        <p:blipFill>
          <a:blip r:embed="rId2"/>
          <a:stretch>
            <a:fillRect/>
          </a:stretch>
        </p:blipFill>
        <p:spPr>
          <a:xfrm>
            <a:off x="0" y="1104901"/>
            <a:ext cx="9144000" cy="4038600"/>
          </a:xfrm>
          <a:prstGeom prst="rect">
            <a:avLst/>
          </a:prstGeom>
        </p:spPr>
      </p:pic>
    </p:spTree>
    <p:extLst>
      <p:ext uri="{BB962C8B-B14F-4D97-AF65-F5344CB8AC3E}">
        <p14:creationId xmlns:p14="http://schemas.microsoft.com/office/powerpoint/2010/main" val="2578979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4A6D7E7-FA45-01B9-54BE-47D81CB61830}"/>
              </a:ext>
            </a:extLst>
          </p:cNvPr>
          <p:cNvGrpSpPr/>
          <p:nvPr/>
        </p:nvGrpSpPr>
        <p:grpSpPr>
          <a:xfrm>
            <a:off x="0" y="0"/>
            <a:ext cx="9144000" cy="609600"/>
            <a:chOff x="0" y="0"/>
            <a:chExt cx="9144000" cy="82296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Q(a) · Top Bigrams per HOD — Signature Research Terms</a:t>
              </a:r>
              <a:endParaRPr lang="en-US" sz="2200" dirty="0"/>
            </a:p>
          </p:txBody>
        </p:sp>
      </p:grpSp>
      <p:pic>
        <p:nvPicPr>
          <p:cNvPr id="8" name="Picture 7">
            <a:extLst>
              <a:ext uri="{FF2B5EF4-FFF2-40B4-BE49-F238E27FC236}">
                <a16:creationId xmlns:a16="http://schemas.microsoft.com/office/drawing/2014/main" id="{8C8CCC03-F11C-CDFB-AA10-361BDBA89540}"/>
              </a:ext>
            </a:extLst>
          </p:cNvPr>
          <p:cNvPicPr>
            <a:picLocks noChangeAspect="1"/>
          </p:cNvPicPr>
          <p:nvPr/>
        </p:nvPicPr>
        <p:blipFill>
          <a:blip r:embed="rId3"/>
          <a:srcRect t="4258" r="48658" b="47593"/>
          <a:stretch>
            <a:fillRect/>
          </a:stretch>
        </p:blipFill>
        <p:spPr>
          <a:xfrm>
            <a:off x="0" y="804672"/>
            <a:ext cx="4710578" cy="4147718"/>
          </a:xfrm>
          <a:prstGeom prst="rect">
            <a:avLst/>
          </a:prstGeom>
        </p:spPr>
      </p:pic>
      <p:pic>
        <p:nvPicPr>
          <p:cNvPr id="10" name="Picture 9">
            <a:extLst>
              <a:ext uri="{FF2B5EF4-FFF2-40B4-BE49-F238E27FC236}">
                <a16:creationId xmlns:a16="http://schemas.microsoft.com/office/drawing/2014/main" id="{EC22BD8E-E1A0-70F9-7319-4963EF2B5C64}"/>
              </a:ext>
            </a:extLst>
          </p:cNvPr>
          <p:cNvPicPr>
            <a:picLocks noChangeAspect="1"/>
          </p:cNvPicPr>
          <p:nvPr/>
        </p:nvPicPr>
        <p:blipFill>
          <a:blip r:embed="rId3"/>
          <a:srcRect l="50901" t="3715" b="47805"/>
          <a:stretch>
            <a:fillRect/>
          </a:stretch>
        </p:blipFill>
        <p:spPr>
          <a:xfrm>
            <a:off x="4466155" y="707136"/>
            <a:ext cx="4677845" cy="43427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79CCD06-53B4-0453-BCC3-E59BC1BD0AE4}"/>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537FF77-2832-FBD0-3DEF-7D6B7D27C304}"/>
              </a:ext>
            </a:extLst>
          </p:cNvPr>
          <p:cNvGrpSpPr/>
          <p:nvPr/>
        </p:nvGrpSpPr>
        <p:grpSpPr>
          <a:xfrm>
            <a:off x="0" y="0"/>
            <a:ext cx="9144000" cy="609600"/>
            <a:chOff x="0" y="0"/>
            <a:chExt cx="9144000" cy="822960"/>
          </a:xfrm>
        </p:grpSpPr>
        <p:sp>
          <p:nvSpPr>
            <p:cNvPr id="2" name="Shape 0">
              <a:extLst>
                <a:ext uri="{FF2B5EF4-FFF2-40B4-BE49-F238E27FC236}">
                  <a16:creationId xmlns:a16="http://schemas.microsoft.com/office/drawing/2014/main" id="{8F804643-55DA-1985-1E83-225B9D6F65DF}"/>
                </a:ext>
              </a:extLst>
            </p:cNvPr>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a:extLst>
                <a:ext uri="{FF2B5EF4-FFF2-40B4-BE49-F238E27FC236}">
                  <a16:creationId xmlns:a16="http://schemas.microsoft.com/office/drawing/2014/main" id="{B8DC895C-CD52-10DC-782F-7523867D40CE}"/>
                </a:ext>
              </a:extLst>
            </p:cNvPr>
            <p:cNvSpPr/>
            <p:nvPr/>
          </p:nvSpPr>
          <p:spPr>
            <a:xfrm>
              <a:off x="365760" y="0"/>
              <a:ext cx="8412480" cy="82296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Q(a) · Top Bigrams per HOD — Signature Research Terms</a:t>
              </a:r>
              <a:endParaRPr lang="en-US" sz="2200" dirty="0"/>
            </a:p>
          </p:txBody>
        </p:sp>
      </p:grpSp>
      <p:pic>
        <p:nvPicPr>
          <p:cNvPr id="10" name="Picture 9">
            <a:extLst>
              <a:ext uri="{FF2B5EF4-FFF2-40B4-BE49-F238E27FC236}">
                <a16:creationId xmlns:a16="http://schemas.microsoft.com/office/drawing/2014/main" id="{B8A184C7-BD78-3980-728E-A9F3D6623E05}"/>
              </a:ext>
            </a:extLst>
          </p:cNvPr>
          <p:cNvPicPr>
            <a:picLocks noChangeAspect="1"/>
          </p:cNvPicPr>
          <p:nvPr/>
        </p:nvPicPr>
        <p:blipFill>
          <a:blip r:embed="rId3"/>
          <a:srcRect t="75641" r="47411"/>
          <a:stretch>
            <a:fillRect/>
          </a:stretch>
        </p:blipFill>
        <p:spPr>
          <a:xfrm>
            <a:off x="0" y="2813433"/>
            <a:ext cx="5350263" cy="2330067"/>
          </a:xfrm>
          <a:prstGeom prst="rect">
            <a:avLst/>
          </a:prstGeom>
        </p:spPr>
      </p:pic>
      <p:pic>
        <p:nvPicPr>
          <p:cNvPr id="5" name="Picture 4">
            <a:extLst>
              <a:ext uri="{FF2B5EF4-FFF2-40B4-BE49-F238E27FC236}">
                <a16:creationId xmlns:a16="http://schemas.microsoft.com/office/drawing/2014/main" id="{8FBFB4F1-28FE-1FB2-1774-8B8056382A7F}"/>
              </a:ext>
            </a:extLst>
          </p:cNvPr>
          <p:cNvPicPr>
            <a:picLocks noChangeAspect="1"/>
          </p:cNvPicPr>
          <p:nvPr/>
        </p:nvPicPr>
        <p:blipFill>
          <a:blip r:embed="rId3"/>
          <a:srcRect t="51819" b="23838"/>
          <a:stretch>
            <a:fillRect/>
          </a:stretch>
        </p:blipFill>
        <p:spPr>
          <a:xfrm>
            <a:off x="36806" y="707543"/>
            <a:ext cx="9107194" cy="2007947"/>
          </a:xfrm>
          <a:prstGeom prst="rect">
            <a:avLst/>
          </a:prstGeom>
        </p:spPr>
      </p:pic>
    </p:spTree>
    <p:extLst>
      <p:ext uri="{BB962C8B-B14F-4D97-AF65-F5344CB8AC3E}">
        <p14:creationId xmlns:p14="http://schemas.microsoft.com/office/powerpoint/2010/main" val="2645041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75729"/>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575729"/>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Q(b) · Is There a Shared Intellectual Tradition?</a:t>
            </a:r>
            <a:endParaRPr lang="en-US" sz="2200" dirty="0"/>
          </a:p>
        </p:txBody>
      </p:sp>
      <p:grpSp>
        <p:nvGrpSpPr>
          <p:cNvPr id="15" name="Group 14">
            <a:extLst>
              <a:ext uri="{FF2B5EF4-FFF2-40B4-BE49-F238E27FC236}">
                <a16:creationId xmlns:a16="http://schemas.microsoft.com/office/drawing/2014/main" id="{BD7118FA-D417-2141-C11B-EC43375B39FD}"/>
              </a:ext>
            </a:extLst>
          </p:cNvPr>
          <p:cNvGrpSpPr/>
          <p:nvPr/>
        </p:nvGrpSpPr>
        <p:grpSpPr>
          <a:xfrm>
            <a:off x="6263640" y="648880"/>
            <a:ext cx="2743200" cy="2487610"/>
            <a:chOff x="6263640" y="648880"/>
            <a:chExt cx="2743200" cy="3081872"/>
          </a:xfrm>
        </p:grpSpPr>
        <p:sp>
          <p:nvSpPr>
            <p:cNvPr id="5" name="Shape 2"/>
            <p:cNvSpPr/>
            <p:nvPr/>
          </p:nvSpPr>
          <p:spPr>
            <a:xfrm>
              <a:off x="6263640" y="648880"/>
              <a:ext cx="2743200" cy="3081872"/>
            </a:xfrm>
            <a:prstGeom prst="rect">
              <a:avLst/>
            </a:prstGeom>
            <a:solidFill>
              <a:srgbClr val="E6F9F5"/>
            </a:solidFill>
            <a:ln w="12700">
              <a:solidFill>
                <a:srgbClr val="02C39A"/>
              </a:solidFill>
              <a:prstDash val="solid"/>
            </a:ln>
          </p:spPr>
          <p:txBody>
            <a:bodyPr/>
            <a:lstStyle/>
            <a:p>
              <a:endParaRPr lang="en-US"/>
            </a:p>
          </p:txBody>
        </p:sp>
        <p:sp>
          <p:nvSpPr>
            <p:cNvPr id="6" name="Text 3"/>
            <p:cNvSpPr/>
            <p:nvPr/>
          </p:nvSpPr>
          <p:spPr>
            <a:xfrm>
              <a:off x="6263640" y="685457"/>
              <a:ext cx="2743200" cy="445253"/>
            </a:xfrm>
            <a:prstGeom prst="rect">
              <a:avLst/>
            </a:prstGeom>
            <a:noFill/>
            <a:ln/>
          </p:spPr>
          <p:txBody>
            <a:bodyPr wrap="square" rtlCol="0" anchor="ctr"/>
            <a:lstStyle/>
            <a:p>
              <a:pPr marL="0" indent="0" algn="ctr">
                <a:buNone/>
              </a:pPr>
              <a:r>
                <a:rPr lang="en-US" sz="1300" b="1" dirty="0">
                  <a:solidFill>
                    <a:srgbClr val="1B3A6B"/>
                  </a:solidFill>
                  <a:latin typeface="Trebuchet MS" pitchFamily="34" charset="0"/>
                  <a:ea typeface="Trebuchet MS" pitchFamily="34" charset="-122"/>
                  <a:cs typeface="Trebuchet MS" pitchFamily="34" charset="-120"/>
                </a:rPr>
                <a:t>Interpretation</a:t>
              </a:r>
              <a:endParaRPr lang="en-US" sz="1300" dirty="0"/>
            </a:p>
          </p:txBody>
        </p:sp>
        <p:sp>
          <p:nvSpPr>
            <p:cNvPr id="7" name="Text 4"/>
            <p:cNvSpPr/>
            <p:nvPr/>
          </p:nvSpPr>
          <p:spPr>
            <a:xfrm>
              <a:off x="6355080" y="1130710"/>
              <a:ext cx="2560320" cy="238973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Ghana</a:t>
              </a:r>
              <a:r>
                <a:rPr lang="en-US" sz="1100" dirty="0">
                  <a:solidFill>
                    <a:srgbClr val="334155"/>
                  </a:solidFill>
                  <a:latin typeface="Calibri" pitchFamily="34" charset="0"/>
                  <a:ea typeface="Calibri" pitchFamily="34" charset="-122"/>
                  <a:cs typeface="Calibri" pitchFamily="34" charset="-120"/>
                </a:rPr>
                <a:t> is shared by all 7 HODs — a unifying national context.
</a:t>
              </a:r>
              <a:r>
                <a:rPr lang="en-US" sz="1100" b="1" dirty="0">
                  <a:solidFill>
                    <a:srgbClr val="1B3A6B"/>
                  </a:solidFill>
                  <a:latin typeface="Calibri" pitchFamily="34" charset="0"/>
                  <a:ea typeface="Calibri" pitchFamily="34" charset="-122"/>
                  <a:cs typeface="Calibri" pitchFamily="34" charset="-120"/>
                </a:rPr>
                <a:t>Country, level, firm, factor</a:t>
              </a:r>
              <a:r>
                <a:rPr lang="en-US" sz="1100" dirty="0">
                  <a:solidFill>
                    <a:srgbClr val="334155"/>
                  </a:solidFill>
                  <a:latin typeface="Calibri" pitchFamily="34" charset="0"/>
                  <a:ea typeface="Calibri" pitchFamily="34" charset="-122"/>
                  <a:cs typeface="Calibri" pitchFamily="34" charset="-120"/>
                </a:rPr>
                <a:t> appear in 4–5 HODs, suggesting shared institutional economics vocabulary.
</a:t>
              </a:r>
              <a:r>
                <a:rPr lang="en-US" sz="1100" b="1" dirty="0">
                  <a:solidFill>
                    <a:srgbClr val="334155"/>
                  </a:solidFill>
                  <a:latin typeface="Calibri" pitchFamily="34" charset="0"/>
                  <a:ea typeface="Calibri" pitchFamily="34" charset="-122"/>
                  <a:cs typeface="Calibri" pitchFamily="34" charset="-120"/>
                </a:rPr>
                <a:t>Verdict: </a:t>
              </a:r>
              <a:r>
                <a:rPr lang="en-US" sz="1100" dirty="0">
                  <a:solidFill>
                    <a:srgbClr val="334155"/>
                  </a:solidFill>
                  <a:latin typeface="Calibri" pitchFamily="34" charset="0"/>
                  <a:ea typeface="Calibri" pitchFamily="34" charset="-122"/>
                  <a:cs typeface="Calibri" pitchFamily="34" charset="-120"/>
                </a:rPr>
                <a:t>There IS a shared tradition of Ghana-</a:t>
              </a:r>
              <a:r>
                <a:rPr lang="en-US" sz="1100" dirty="0" err="1">
                  <a:solidFill>
                    <a:srgbClr val="334155"/>
                  </a:solidFill>
                  <a:latin typeface="Calibri" pitchFamily="34" charset="0"/>
                  <a:ea typeface="Calibri" pitchFamily="34" charset="-122"/>
                  <a:cs typeface="Calibri" pitchFamily="34" charset="-120"/>
                </a:rPr>
                <a:t>contextualised</a:t>
              </a:r>
              <a:r>
                <a:rPr lang="en-US" sz="1100" dirty="0">
                  <a:solidFill>
                    <a:srgbClr val="334155"/>
                  </a:solidFill>
                  <a:latin typeface="Calibri" pitchFamily="34" charset="0"/>
                  <a:ea typeface="Calibri" pitchFamily="34" charset="-122"/>
                  <a:cs typeface="Calibri" pitchFamily="34" charset="-120"/>
                </a:rPr>
                <a:t>, firm-level empirical research — but disciplinary diversity means no single school of thought.</a:t>
              </a:r>
              <a:endParaRPr lang="en-US" sz="1100" dirty="0"/>
            </a:p>
          </p:txBody>
        </p:sp>
      </p:grpSp>
      <p:sp>
        <p:nvSpPr>
          <p:cNvPr id="8" name="Shape 5"/>
          <p:cNvSpPr/>
          <p:nvPr/>
        </p:nvSpPr>
        <p:spPr>
          <a:xfrm>
            <a:off x="182880" y="3840480"/>
            <a:ext cx="8778240" cy="0"/>
          </a:xfrm>
          <a:prstGeom prst="line">
            <a:avLst/>
          </a:prstGeom>
          <a:noFill/>
          <a:ln w="12700">
            <a:solidFill>
              <a:srgbClr val="CBD5E1"/>
            </a:solidFill>
            <a:prstDash val="solid"/>
          </a:ln>
        </p:spPr>
        <p:txBody>
          <a:bodyPr/>
          <a:lstStyle/>
          <a:p>
            <a:endParaRPr lang="en-US"/>
          </a:p>
        </p:txBody>
      </p:sp>
      <p:sp>
        <p:nvSpPr>
          <p:cNvPr id="9" name="Shape 6"/>
          <p:cNvSpPr/>
          <p:nvPr/>
        </p:nvSpPr>
        <p:spPr>
          <a:xfrm>
            <a:off x="182880" y="3913632"/>
            <a:ext cx="4297680" cy="960120"/>
          </a:xfrm>
          <a:prstGeom prst="rect">
            <a:avLst/>
          </a:prstGeom>
          <a:solidFill>
            <a:srgbClr val="FFFFFF"/>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US"/>
          </a:p>
        </p:txBody>
      </p:sp>
      <p:sp>
        <p:nvSpPr>
          <p:cNvPr id="10" name="Text 7"/>
          <p:cNvSpPr/>
          <p:nvPr/>
        </p:nvSpPr>
        <p:spPr>
          <a:xfrm>
            <a:off x="274320" y="3931920"/>
            <a:ext cx="4114800" cy="274320"/>
          </a:xfrm>
          <a:prstGeom prst="rect">
            <a:avLst/>
          </a:prstGeom>
          <a:noFill/>
          <a:ln/>
        </p:spPr>
        <p:txBody>
          <a:bodyPr wrap="square" rtlCol="0" anchor="ctr"/>
          <a:lstStyle/>
          <a:p>
            <a:pPr marL="0" indent="0">
              <a:buNone/>
            </a:pPr>
            <a:r>
              <a:rPr lang="en-US" sz="1150" b="1" dirty="0">
                <a:solidFill>
                  <a:srgbClr val="028090"/>
                </a:solidFill>
                <a:latin typeface="Trebuchet MS" pitchFamily="34" charset="0"/>
                <a:ea typeface="Trebuchet MS" pitchFamily="34" charset="-122"/>
                <a:cs typeface="Trebuchet MS" pitchFamily="34" charset="-120"/>
              </a:rPr>
              <a:t>Common Methodological Anchor</a:t>
            </a:r>
            <a:endParaRPr lang="en-US" sz="1150" dirty="0"/>
          </a:p>
        </p:txBody>
      </p:sp>
      <p:sp>
        <p:nvSpPr>
          <p:cNvPr id="11" name="Text 8"/>
          <p:cNvSpPr/>
          <p:nvPr/>
        </p:nvSpPr>
        <p:spPr>
          <a:xfrm>
            <a:off x="274320" y="4224528"/>
            <a:ext cx="4114800" cy="5943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All HODs rely predominantly on quantitative, survey-based, regression-driven approaches grounded in Ghana-specific firm and household data.</a:t>
            </a:r>
            <a:endParaRPr lang="en-US" sz="1100" dirty="0"/>
          </a:p>
        </p:txBody>
      </p:sp>
      <p:sp>
        <p:nvSpPr>
          <p:cNvPr id="12" name="Shape 9"/>
          <p:cNvSpPr/>
          <p:nvPr/>
        </p:nvSpPr>
        <p:spPr>
          <a:xfrm>
            <a:off x="4663440" y="3913632"/>
            <a:ext cx="4297680" cy="960120"/>
          </a:xfrm>
          <a:prstGeom prst="rect">
            <a:avLst/>
          </a:prstGeom>
          <a:solidFill>
            <a:srgbClr val="FFFFFF"/>
          </a:solidFill>
          <a:ln w="12700">
            <a:solidFill>
              <a:srgbClr val="00A896"/>
            </a:solidFill>
            <a:prstDash val="solid"/>
          </a:ln>
          <a:effectLst>
            <a:outerShdw blurRad="101600" dist="25400" dir="8100000" algn="bl" rotWithShape="0">
              <a:srgbClr val="000000">
                <a:alpha val="10000"/>
              </a:srgbClr>
            </a:outerShdw>
          </a:effectLst>
        </p:spPr>
        <p:txBody>
          <a:bodyPr/>
          <a:lstStyle/>
          <a:p>
            <a:endParaRPr lang="en-US"/>
          </a:p>
        </p:txBody>
      </p:sp>
      <p:sp>
        <p:nvSpPr>
          <p:cNvPr id="13" name="Text 10"/>
          <p:cNvSpPr/>
          <p:nvPr/>
        </p:nvSpPr>
        <p:spPr>
          <a:xfrm>
            <a:off x="4754880" y="3931920"/>
            <a:ext cx="4114800" cy="274320"/>
          </a:xfrm>
          <a:prstGeom prst="rect">
            <a:avLst/>
          </a:prstGeom>
          <a:noFill/>
          <a:ln/>
        </p:spPr>
        <p:txBody>
          <a:bodyPr wrap="square" rtlCol="0" anchor="ctr"/>
          <a:lstStyle/>
          <a:p>
            <a:pPr marL="0" indent="0">
              <a:buNone/>
            </a:pPr>
            <a:r>
              <a:rPr lang="en-US" sz="1150" b="1" dirty="0">
                <a:solidFill>
                  <a:srgbClr val="00A896"/>
                </a:solidFill>
                <a:latin typeface="Trebuchet MS" pitchFamily="34" charset="0"/>
                <a:ea typeface="Trebuchet MS" pitchFamily="34" charset="-122"/>
                <a:cs typeface="Trebuchet MS" pitchFamily="34" charset="-120"/>
              </a:rPr>
              <a:t>Where Diversity Remains</a:t>
            </a:r>
            <a:endParaRPr lang="en-US" sz="1150" dirty="0"/>
          </a:p>
        </p:txBody>
      </p:sp>
      <p:sp>
        <p:nvSpPr>
          <p:cNvPr id="14" name="Text 11"/>
          <p:cNvSpPr/>
          <p:nvPr/>
        </p:nvSpPr>
        <p:spPr>
          <a:xfrm>
            <a:off x="4754880" y="4224528"/>
            <a:ext cx="4114800" cy="5943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Disciplinary focus diverges sharply: public health (HSM), energy systems (OMIS/Public Admin), and social responsibility (HR) each occupy distinct intellectual spaces.</a:t>
            </a:r>
            <a:endParaRPr lang="en-US" sz="1100" dirty="0"/>
          </a:p>
        </p:txBody>
      </p:sp>
      <p:pic>
        <p:nvPicPr>
          <p:cNvPr id="17" name="Picture 16">
            <a:extLst>
              <a:ext uri="{FF2B5EF4-FFF2-40B4-BE49-F238E27FC236}">
                <a16:creationId xmlns:a16="http://schemas.microsoft.com/office/drawing/2014/main" id="{7EA4615A-F7B6-5E47-51F1-CF989BE26CC5}"/>
              </a:ext>
            </a:extLst>
          </p:cNvPr>
          <p:cNvPicPr>
            <a:picLocks noChangeAspect="1"/>
          </p:cNvPicPr>
          <p:nvPr/>
        </p:nvPicPr>
        <p:blipFill>
          <a:blip r:embed="rId3"/>
          <a:stretch>
            <a:fillRect/>
          </a:stretch>
        </p:blipFill>
        <p:spPr>
          <a:xfrm>
            <a:off x="0" y="633176"/>
            <a:ext cx="6263640" cy="312653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800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50800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Q(c) · Applied vs Theoretical Orientation</a:t>
            </a:r>
            <a:endParaRPr lang="en-US" sz="2400" dirty="0"/>
          </a:p>
        </p:txBody>
      </p:sp>
      <p:sp>
        <p:nvSpPr>
          <p:cNvPr id="6" name="Shape 2"/>
          <p:cNvSpPr/>
          <p:nvPr/>
        </p:nvSpPr>
        <p:spPr>
          <a:xfrm>
            <a:off x="182880" y="3383280"/>
            <a:ext cx="8778240" cy="640080"/>
          </a:xfrm>
          <a:prstGeom prst="rect">
            <a:avLst/>
          </a:prstGeom>
          <a:solidFill>
            <a:srgbClr val="02C39A">
              <a:alpha val="20000"/>
            </a:srgbClr>
          </a:solidFill>
          <a:ln w="12700">
            <a:solidFill>
              <a:srgbClr val="02C39A"/>
            </a:solidFill>
            <a:prstDash val="solid"/>
          </a:ln>
        </p:spPr>
        <p:txBody>
          <a:bodyPr/>
          <a:lstStyle/>
          <a:p>
            <a:endParaRPr lang="en-US"/>
          </a:p>
        </p:txBody>
      </p:sp>
      <p:sp>
        <p:nvSpPr>
          <p:cNvPr id="7" name="Text 3"/>
          <p:cNvSpPr/>
          <p:nvPr/>
        </p:nvSpPr>
        <p:spPr>
          <a:xfrm>
            <a:off x="274320" y="3383280"/>
            <a:ext cx="8595360" cy="640080"/>
          </a:xfrm>
          <a:prstGeom prst="rect">
            <a:avLst/>
          </a:prstGeom>
          <a:noFill/>
          <a:ln/>
        </p:spPr>
        <p:txBody>
          <a:bodyPr wrap="square" rtlCol="0" anchor="ctr"/>
          <a:lstStyle/>
          <a:p>
            <a:pPr algn="ctr"/>
            <a:r>
              <a:rPr lang="en-US" sz="1350" b="1" dirty="0">
                <a:solidFill>
                  <a:schemeClr val="accent1">
                    <a:lumMod val="75000"/>
                  </a:schemeClr>
                </a:solidFill>
                <a:latin typeface="Trebuchet MS" panose="020B0603020202020204" pitchFamily="34" charset="0"/>
                <a:ea typeface="Trebuchet MS" pitchFamily="34" charset="-122"/>
                <a:cs typeface="Trebuchet MS" pitchFamily="34" charset="-120"/>
              </a:rPr>
              <a:t>VERDICT: </a:t>
            </a:r>
            <a:r>
              <a:rPr lang="en-US" sz="1400" b="1" dirty="0">
                <a:solidFill>
                  <a:schemeClr val="accent1">
                    <a:lumMod val="75000"/>
                  </a:schemeClr>
                </a:solidFill>
                <a:latin typeface="Trebuchet MS" panose="020B0603020202020204" pitchFamily="34" charset="0"/>
              </a:rPr>
              <a:t>All 7 HODs show a predominantly applied orientation, with applied signals ranging from approximately 61% to 89%, significantly exceeding theoretical contributions</a:t>
            </a:r>
            <a:endParaRPr lang="en-US" sz="1350" b="1" dirty="0">
              <a:solidFill>
                <a:schemeClr val="accent1">
                  <a:lumMod val="75000"/>
                </a:schemeClr>
              </a:solidFill>
              <a:latin typeface="Trebuchet MS" panose="020B0603020202020204" pitchFamily="34" charset="0"/>
            </a:endParaRPr>
          </a:p>
        </p:txBody>
      </p:sp>
      <p:sp>
        <p:nvSpPr>
          <p:cNvPr id="8" name="Shape 4"/>
          <p:cNvSpPr/>
          <p:nvPr/>
        </p:nvSpPr>
        <p:spPr>
          <a:xfrm>
            <a:off x="182880" y="4114800"/>
            <a:ext cx="274320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9" name="Text 5"/>
          <p:cNvSpPr/>
          <p:nvPr/>
        </p:nvSpPr>
        <p:spPr>
          <a:xfrm>
            <a:off x="274320" y="4142232"/>
            <a:ext cx="2560320" cy="274320"/>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  Practical Focus</a:t>
            </a:r>
            <a:endParaRPr lang="en-US" sz="1150" dirty="0"/>
          </a:p>
        </p:txBody>
      </p:sp>
      <p:sp>
        <p:nvSpPr>
          <p:cNvPr id="10" name="Text 6"/>
          <p:cNvSpPr/>
          <p:nvPr/>
        </p:nvSpPr>
        <p:spPr>
          <a:xfrm>
            <a:off x="274320" y="4434840"/>
            <a:ext cx="2560320" cy="54864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Research centres on solving real-world Ghanaian business problems — tax evasion, market orientation, energy access, healthcare delivery.</a:t>
            </a:r>
            <a:endParaRPr lang="en-US" sz="1000" dirty="0"/>
          </a:p>
        </p:txBody>
      </p:sp>
      <p:sp>
        <p:nvSpPr>
          <p:cNvPr id="11" name="Shape 7"/>
          <p:cNvSpPr/>
          <p:nvPr/>
        </p:nvSpPr>
        <p:spPr>
          <a:xfrm>
            <a:off x="3172968" y="4114800"/>
            <a:ext cx="274320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2" name="Text 8"/>
          <p:cNvSpPr/>
          <p:nvPr/>
        </p:nvSpPr>
        <p:spPr>
          <a:xfrm>
            <a:off x="3264408" y="4142232"/>
            <a:ext cx="2560320" cy="274320"/>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  Policy-Ready</a:t>
            </a:r>
            <a:endParaRPr lang="en-US" sz="1150" dirty="0"/>
          </a:p>
        </p:txBody>
      </p:sp>
      <p:sp>
        <p:nvSpPr>
          <p:cNvPr id="13" name="Text 9"/>
          <p:cNvSpPr/>
          <p:nvPr/>
        </p:nvSpPr>
        <p:spPr>
          <a:xfrm>
            <a:off x="3264408" y="4434840"/>
            <a:ext cx="2560320" cy="54864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Papers target practitioners and policy-makers. Recommendations are specific to Ghana's institutional and economic context.</a:t>
            </a:r>
            <a:endParaRPr lang="en-US" sz="1000" dirty="0"/>
          </a:p>
        </p:txBody>
      </p:sp>
      <p:sp>
        <p:nvSpPr>
          <p:cNvPr id="14" name="Shape 10"/>
          <p:cNvSpPr/>
          <p:nvPr/>
        </p:nvSpPr>
        <p:spPr>
          <a:xfrm>
            <a:off x="6163056" y="4114800"/>
            <a:ext cx="2743200" cy="91440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5" name="Text 11"/>
          <p:cNvSpPr/>
          <p:nvPr/>
        </p:nvSpPr>
        <p:spPr>
          <a:xfrm>
            <a:off x="6254496" y="4142232"/>
            <a:ext cx="2560320" cy="274320"/>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  Theory Embedded</a:t>
            </a:r>
            <a:endParaRPr lang="en-US" sz="1150" dirty="0"/>
          </a:p>
        </p:txBody>
      </p:sp>
      <p:sp>
        <p:nvSpPr>
          <p:cNvPr id="16" name="Text 12"/>
          <p:cNvSpPr/>
          <p:nvPr/>
        </p:nvSpPr>
        <p:spPr>
          <a:xfrm>
            <a:off x="6254496" y="4434840"/>
            <a:ext cx="2560320" cy="54864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Theoretical frameworks (resource-based view, TPB, TAM) appear, but as tools to explain applied findings — not as ends in themselves.</a:t>
            </a:r>
            <a:endParaRPr lang="en-US" sz="1000" dirty="0"/>
          </a:p>
        </p:txBody>
      </p:sp>
      <p:pic>
        <p:nvPicPr>
          <p:cNvPr id="18" name="Picture 17">
            <a:extLst>
              <a:ext uri="{FF2B5EF4-FFF2-40B4-BE49-F238E27FC236}">
                <a16:creationId xmlns:a16="http://schemas.microsoft.com/office/drawing/2014/main" id="{3ED76009-C7BA-BC3E-F2D9-11BA8C506BEA}"/>
              </a:ext>
            </a:extLst>
          </p:cNvPr>
          <p:cNvPicPr>
            <a:picLocks noChangeAspect="1"/>
          </p:cNvPicPr>
          <p:nvPr/>
        </p:nvPicPr>
        <p:blipFill>
          <a:blip r:embed="rId3"/>
          <a:stretch>
            <a:fillRect/>
          </a:stretch>
        </p:blipFill>
        <p:spPr>
          <a:xfrm>
            <a:off x="4799419" y="514482"/>
            <a:ext cx="4344582" cy="2519971"/>
          </a:xfrm>
          <a:prstGeom prst="rect">
            <a:avLst/>
          </a:prstGeom>
        </p:spPr>
      </p:pic>
      <p:pic>
        <p:nvPicPr>
          <p:cNvPr id="20" name="Picture 19">
            <a:extLst>
              <a:ext uri="{FF2B5EF4-FFF2-40B4-BE49-F238E27FC236}">
                <a16:creationId xmlns:a16="http://schemas.microsoft.com/office/drawing/2014/main" id="{68E324C1-FDB6-8BA8-DE0B-13B2F1BA5256}"/>
              </a:ext>
            </a:extLst>
          </p:cNvPr>
          <p:cNvPicPr>
            <a:picLocks noChangeAspect="1"/>
          </p:cNvPicPr>
          <p:nvPr/>
        </p:nvPicPr>
        <p:blipFill>
          <a:blip r:embed="rId4"/>
          <a:stretch>
            <a:fillRect/>
          </a:stretch>
        </p:blipFill>
        <p:spPr>
          <a:xfrm>
            <a:off x="1" y="514482"/>
            <a:ext cx="4713992" cy="24454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3173"/>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413173"/>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Q(d) · Preferred Research Methods</a:t>
            </a:r>
            <a:endParaRPr lang="en-US" sz="2400" dirty="0"/>
          </a:p>
        </p:txBody>
      </p:sp>
      <p:sp>
        <p:nvSpPr>
          <p:cNvPr id="6" name="Text 2"/>
          <p:cNvSpPr/>
          <p:nvPr/>
        </p:nvSpPr>
        <p:spPr>
          <a:xfrm>
            <a:off x="274320" y="4919472"/>
            <a:ext cx="8595360" cy="201168"/>
          </a:xfrm>
          <a:prstGeom prst="rect">
            <a:avLst/>
          </a:prstGeom>
          <a:noFill/>
          <a:ln/>
        </p:spPr>
        <p:txBody>
          <a:bodyPr wrap="square" rtlCol="0" anchor="ctr"/>
          <a:lstStyle/>
          <a:p>
            <a:pPr marL="0" indent="0" algn="ctr">
              <a:buNone/>
            </a:pPr>
            <a:r>
              <a:rPr lang="en-US" sz="900" i="1" dirty="0">
                <a:solidFill>
                  <a:srgbClr val="028090"/>
                </a:solidFill>
                <a:latin typeface="Calibri" pitchFamily="34" charset="0"/>
                <a:ea typeface="Calibri" pitchFamily="34" charset="-122"/>
                <a:cs typeface="Calibri" pitchFamily="34" charset="-120"/>
              </a:rPr>
              <a:t>Quantitative dominant (43–53%) across all HODs. Qualitative second (27–36%). Design science emerging (17–26%).</a:t>
            </a:r>
            <a:endParaRPr lang="en-US" sz="900" dirty="0"/>
          </a:p>
        </p:txBody>
      </p:sp>
      <p:pic>
        <p:nvPicPr>
          <p:cNvPr id="8" name="Picture 7">
            <a:extLst>
              <a:ext uri="{FF2B5EF4-FFF2-40B4-BE49-F238E27FC236}">
                <a16:creationId xmlns:a16="http://schemas.microsoft.com/office/drawing/2014/main" id="{D9E58199-4D06-C197-24B3-291225378535}"/>
              </a:ext>
            </a:extLst>
          </p:cNvPr>
          <p:cNvPicPr>
            <a:picLocks noChangeAspect="1"/>
          </p:cNvPicPr>
          <p:nvPr/>
        </p:nvPicPr>
        <p:blipFill>
          <a:blip r:embed="rId3"/>
          <a:stretch>
            <a:fillRect/>
          </a:stretch>
        </p:blipFill>
        <p:spPr>
          <a:xfrm>
            <a:off x="0" y="413173"/>
            <a:ext cx="9144000" cy="41362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63EA8E-099B-EBA7-E1C2-DC02F61099F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8B0B3F-43B8-3BE5-FD04-FFF8AA810011}"/>
              </a:ext>
            </a:extLst>
          </p:cNvPr>
          <p:cNvSpPr/>
          <p:nvPr/>
        </p:nvSpPr>
        <p:spPr>
          <a:xfrm>
            <a:off x="0" y="0"/>
            <a:ext cx="9144000" cy="413173"/>
          </a:xfrm>
          <a:prstGeom prst="rect">
            <a:avLst/>
          </a:prstGeom>
          <a:solidFill>
            <a:srgbClr val="1B3A6B"/>
          </a:solidFill>
          <a:ln w="12700">
            <a:solidFill>
              <a:srgbClr val="1B3A6B"/>
            </a:solidFill>
            <a:prstDash val="solid"/>
          </a:ln>
        </p:spPr>
        <p:txBody>
          <a:bodyPr/>
          <a:lstStyle/>
          <a:p>
            <a:endParaRPr lang="en-US"/>
          </a:p>
        </p:txBody>
      </p:sp>
      <p:sp>
        <p:nvSpPr>
          <p:cNvPr id="3" name="Text 1">
            <a:extLst>
              <a:ext uri="{FF2B5EF4-FFF2-40B4-BE49-F238E27FC236}">
                <a16:creationId xmlns:a16="http://schemas.microsoft.com/office/drawing/2014/main" id="{6977359F-3354-58D2-6E6B-CE223E44E91D}"/>
              </a:ext>
            </a:extLst>
          </p:cNvPr>
          <p:cNvSpPr/>
          <p:nvPr/>
        </p:nvSpPr>
        <p:spPr>
          <a:xfrm>
            <a:off x="365760" y="0"/>
            <a:ext cx="8412480" cy="413173"/>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Q(d) · Preferred Research Methods</a:t>
            </a:r>
            <a:endParaRPr lang="en-US" sz="2400" dirty="0"/>
          </a:p>
        </p:txBody>
      </p:sp>
      <p:sp>
        <p:nvSpPr>
          <p:cNvPr id="6" name="Text 2">
            <a:extLst>
              <a:ext uri="{FF2B5EF4-FFF2-40B4-BE49-F238E27FC236}">
                <a16:creationId xmlns:a16="http://schemas.microsoft.com/office/drawing/2014/main" id="{766E10CD-D9B4-45EA-2029-4F5D17D3C883}"/>
              </a:ext>
            </a:extLst>
          </p:cNvPr>
          <p:cNvSpPr/>
          <p:nvPr/>
        </p:nvSpPr>
        <p:spPr>
          <a:xfrm>
            <a:off x="6861386" y="413173"/>
            <a:ext cx="2008293" cy="4707467"/>
          </a:xfrm>
          <a:prstGeom prst="rect">
            <a:avLst/>
          </a:prstGeom>
          <a:noFill/>
          <a:ln/>
        </p:spPr>
        <p:txBody>
          <a:bodyPr wrap="square" rtlCol="0" anchor="ctr"/>
          <a:lstStyle/>
          <a:p>
            <a:r>
              <a:rPr lang="en-US" sz="1400" b="1" dirty="0">
                <a:solidFill>
                  <a:schemeClr val="accent1">
                    <a:lumMod val="75000"/>
                  </a:schemeClr>
                </a:solidFill>
                <a:latin typeface="Trebuchet MS" panose="020B0603020202020204" pitchFamily="34" charset="0"/>
              </a:rPr>
              <a:t>Quantitative methods dominate across most HODs, particularly in Accounting, Finance, and Marketing. HSM shows a stronger qualitative orientation, while OMIS stands out with a significant use of design science approaches.</a:t>
            </a:r>
          </a:p>
          <a:p>
            <a:r>
              <a:rPr lang="en-US" sz="1400" b="1" dirty="0">
                <a:solidFill>
                  <a:schemeClr val="accent1">
                    <a:lumMod val="75000"/>
                  </a:schemeClr>
                </a:solidFill>
                <a:latin typeface="Trebuchet MS" panose="020B0603020202020204" pitchFamily="34" charset="0"/>
              </a:rPr>
              <a:t>Overall, the school demonstrates a strong quantitative foundation with methodological diversity across departments.</a:t>
            </a:r>
          </a:p>
        </p:txBody>
      </p:sp>
      <p:pic>
        <p:nvPicPr>
          <p:cNvPr id="10" name="Picture 9">
            <a:extLst>
              <a:ext uri="{FF2B5EF4-FFF2-40B4-BE49-F238E27FC236}">
                <a16:creationId xmlns:a16="http://schemas.microsoft.com/office/drawing/2014/main" id="{903BE165-ACB4-BC2D-9881-7C792A88E66D}"/>
              </a:ext>
            </a:extLst>
          </p:cNvPr>
          <p:cNvPicPr>
            <a:picLocks noChangeAspect="1"/>
          </p:cNvPicPr>
          <p:nvPr/>
        </p:nvPicPr>
        <p:blipFill>
          <a:blip r:embed="rId3"/>
          <a:stretch>
            <a:fillRect/>
          </a:stretch>
        </p:blipFill>
        <p:spPr>
          <a:xfrm>
            <a:off x="0" y="474133"/>
            <a:ext cx="6705600" cy="3805325"/>
          </a:xfrm>
          <a:prstGeom prst="rect">
            <a:avLst/>
          </a:prstGeom>
        </p:spPr>
      </p:pic>
    </p:spTree>
    <p:extLst>
      <p:ext uri="{BB962C8B-B14F-4D97-AF65-F5344CB8AC3E}">
        <p14:creationId xmlns:p14="http://schemas.microsoft.com/office/powerpoint/2010/main" val="325135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Q(e) · Emerging 'Hot Topics' Across HODs</a:t>
            </a:r>
            <a:endParaRPr lang="en-US" sz="2400" dirty="0"/>
          </a:p>
        </p:txBody>
      </p:sp>
      <p:sp>
        <p:nvSpPr>
          <p:cNvPr id="5" name="Shape 2"/>
          <p:cNvSpPr/>
          <p:nvPr/>
        </p:nvSpPr>
        <p:spPr>
          <a:xfrm>
            <a:off x="228600" y="4069080"/>
            <a:ext cx="2011680" cy="868680"/>
          </a:xfrm>
          <a:prstGeom prst="rect">
            <a:avLst/>
          </a:prstGeom>
          <a:solidFill>
            <a:srgbClr val="FFFFFF"/>
          </a:solidFill>
          <a:ln w="12700">
            <a:solidFill>
              <a:srgbClr val="10B981"/>
            </a:solidFill>
            <a:prstDash val="solid"/>
          </a:ln>
          <a:effectLst>
            <a:outerShdw blurRad="101600" dist="25400" dir="8100000" algn="bl" rotWithShape="0">
              <a:srgbClr val="000000">
                <a:alpha val="10000"/>
              </a:srgbClr>
            </a:outerShdw>
          </a:effectLst>
        </p:spPr>
        <p:txBody>
          <a:bodyPr/>
          <a:lstStyle/>
          <a:p>
            <a:endParaRPr lang="en-US"/>
          </a:p>
        </p:txBody>
      </p:sp>
      <p:sp>
        <p:nvSpPr>
          <p:cNvPr id="6" name="Shape 3"/>
          <p:cNvSpPr/>
          <p:nvPr/>
        </p:nvSpPr>
        <p:spPr>
          <a:xfrm>
            <a:off x="228600" y="4069080"/>
            <a:ext cx="2011680" cy="274320"/>
          </a:xfrm>
          <a:prstGeom prst="rect">
            <a:avLst/>
          </a:prstGeom>
          <a:solidFill>
            <a:srgbClr val="10B981"/>
          </a:solidFill>
          <a:ln w="12700">
            <a:solidFill>
              <a:srgbClr val="10B981"/>
            </a:solidFill>
            <a:prstDash val="solid"/>
          </a:ln>
        </p:spPr>
        <p:txBody>
          <a:bodyPr/>
          <a:lstStyle/>
          <a:p>
            <a:endParaRPr lang="en-US"/>
          </a:p>
        </p:txBody>
      </p:sp>
      <p:sp>
        <p:nvSpPr>
          <p:cNvPr id="7" name="Text 4"/>
          <p:cNvSpPr/>
          <p:nvPr/>
        </p:nvSpPr>
        <p:spPr>
          <a:xfrm>
            <a:off x="228600" y="4069080"/>
            <a:ext cx="2011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Climate &amp; Sustainability</a:t>
            </a:r>
            <a:endParaRPr lang="en-US" sz="900" dirty="0"/>
          </a:p>
        </p:txBody>
      </p:sp>
      <p:sp>
        <p:nvSpPr>
          <p:cNvPr id="8" name="Text 5"/>
          <p:cNvSpPr/>
          <p:nvPr/>
        </p:nvSpPr>
        <p:spPr>
          <a:xfrm>
            <a:off x="228600" y="4370832"/>
            <a:ext cx="2011680" cy="502920"/>
          </a:xfrm>
          <a:prstGeom prst="rect">
            <a:avLst/>
          </a:prstGeom>
          <a:noFill/>
          <a:ln/>
        </p:spPr>
        <p:txBody>
          <a:bodyPr wrap="square" rtlCol="0" anchor="ctr"/>
          <a:lstStyle/>
          <a:p>
            <a:pPr marL="0" indent="0" algn="ctr">
              <a:buNone/>
            </a:pPr>
            <a:r>
              <a:rPr lang="en-US" sz="1100" b="1" dirty="0">
                <a:solidFill>
                  <a:srgbClr val="10B981"/>
                </a:solidFill>
                <a:latin typeface="Trebuchet MS" pitchFamily="34" charset="0"/>
                <a:ea typeface="Trebuchet MS" pitchFamily="34" charset="-122"/>
                <a:cs typeface="Trebuchet MS" pitchFamily="34" charset="-120"/>
              </a:rPr>
              <a:t>5 of 7 HODs</a:t>
            </a:r>
            <a:endParaRPr lang="en-US" sz="1100" dirty="0"/>
          </a:p>
        </p:txBody>
      </p:sp>
      <p:sp>
        <p:nvSpPr>
          <p:cNvPr id="9" name="Shape 6"/>
          <p:cNvSpPr/>
          <p:nvPr/>
        </p:nvSpPr>
        <p:spPr>
          <a:xfrm>
            <a:off x="2423160" y="4069080"/>
            <a:ext cx="2011680" cy="868680"/>
          </a:xfrm>
          <a:prstGeom prst="rect">
            <a:avLst/>
          </a:prstGeom>
          <a:solidFill>
            <a:srgbClr val="FFFFFF"/>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US"/>
          </a:p>
        </p:txBody>
      </p:sp>
      <p:sp>
        <p:nvSpPr>
          <p:cNvPr id="10" name="Shape 7"/>
          <p:cNvSpPr/>
          <p:nvPr/>
        </p:nvSpPr>
        <p:spPr>
          <a:xfrm>
            <a:off x="2423160" y="4069080"/>
            <a:ext cx="2011680" cy="274320"/>
          </a:xfrm>
          <a:prstGeom prst="rect">
            <a:avLst/>
          </a:prstGeom>
          <a:solidFill>
            <a:srgbClr val="028090"/>
          </a:solidFill>
          <a:ln w="12700">
            <a:solidFill>
              <a:srgbClr val="028090"/>
            </a:solidFill>
            <a:prstDash val="solid"/>
          </a:ln>
        </p:spPr>
        <p:txBody>
          <a:bodyPr/>
          <a:lstStyle/>
          <a:p>
            <a:endParaRPr lang="en-US"/>
          </a:p>
        </p:txBody>
      </p:sp>
      <p:sp>
        <p:nvSpPr>
          <p:cNvPr id="11" name="Text 8"/>
          <p:cNvSpPr/>
          <p:nvPr/>
        </p:nvSpPr>
        <p:spPr>
          <a:xfrm>
            <a:off x="2423160" y="4069080"/>
            <a:ext cx="2011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Digital Economy &amp; Transformation</a:t>
            </a:r>
            <a:endParaRPr lang="en-US" sz="900" dirty="0"/>
          </a:p>
        </p:txBody>
      </p:sp>
      <p:sp>
        <p:nvSpPr>
          <p:cNvPr id="12" name="Text 9"/>
          <p:cNvSpPr/>
          <p:nvPr/>
        </p:nvSpPr>
        <p:spPr>
          <a:xfrm>
            <a:off x="2423160" y="4370832"/>
            <a:ext cx="2011680" cy="502920"/>
          </a:xfrm>
          <a:prstGeom prst="rect">
            <a:avLst/>
          </a:prstGeom>
          <a:noFill/>
          <a:ln/>
        </p:spPr>
        <p:txBody>
          <a:bodyPr wrap="square" rtlCol="0" anchor="ctr"/>
          <a:lstStyle/>
          <a:p>
            <a:pPr marL="0" indent="0" algn="ctr">
              <a:buNone/>
            </a:pPr>
            <a:r>
              <a:rPr lang="en-US" sz="1100" b="1" dirty="0">
                <a:solidFill>
                  <a:srgbClr val="028090"/>
                </a:solidFill>
                <a:latin typeface="Trebuchet MS" pitchFamily="34" charset="0"/>
                <a:ea typeface="Trebuchet MS" pitchFamily="34" charset="-122"/>
                <a:cs typeface="Trebuchet MS" pitchFamily="34" charset="-120"/>
              </a:rPr>
              <a:t>5 of 7 HODs</a:t>
            </a:r>
            <a:endParaRPr lang="en-US" sz="1100" dirty="0"/>
          </a:p>
        </p:txBody>
      </p:sp>
      <p:sp>
        <p:nvSpPr>
          <p:cNvPr id="13" name="Shape 10"/>
          <p:cNvSpPr/>
          <p:nvPr/>
        </p:nvSpPr>
        <p:spPr>
          <a:xfrm>
            <a:off x="4617720" y="4069080"/>
            <a:ext cx="2011680" cy="868680"/>
          </a:xfrm>
          <a:prstGeom prst="rect">
            <a:avLst/>
          </a:prstGeom>
          <a:solidFill>
            <a:srgbClr val="FFFFFF"/>
          </a:solidFill>
          <a:ln w="12700">
            <a:solidFill>
              <a:srgbClr val="00A896"/>
            </a:solidFill>
            <a:prstDash val="solid"/>
          </a:ln>
          <a:effectLst>
            <a:outerShdw blurRad="101600" dist="25400" dir="8100000" algn="bl" rotWithShape="0">
              <a:srgbClr val="000000">
                <a:alpha val="10000"/>
              </a:srgbClr>
            </a:outerShdw>
          </a:effectLst>
        </p:spPr>
        <p:txBody>
          <a:bodyPr/>
          <a:lstStyle/>
          <a:p>
            <a:endParaRPr lang="en-US"/>
          </a:p>
        </p:txBody>
      </p:sp>
      <p:sp>
        <p:nvSpPr>
          <p:cNvPr id="14" name="Shape 11"/>
          <p:cNvSpPr/>
          <p:nvPr/>
        </p:nvSpPr>
        <p:spPr>
          <a:xfrm>
            <a:off x="4617720" y="4069080"/>
            <a:ext cx="2011680" cy="274320"/>
          </a:xfrm>
          <a:prstGeom prst="rect">
            <a:avLst/>
          </a:prstGeom>
          <a:solidFill>
            <a:srgbClr val="00A896"/>
          </a:solidFill>
          <a:ln w="12700">
            <a:solidFill>
              <a:srgbClr val="00A896"/>
            </a:solidFill>
            <a:prstDash val="solid"/>
          </a:ln>
        </p:spPr>
        <p:txBody>
          <a:bodyPr/>
          <a:lstStyle/>
          <a:p>
            <a:endParaRPr lang="en-US"/>
          </a:p>
        </p:txBody>
      </p:sp>
      <p:sp>
        <p:nvSpPr>
          <p:cNvPr id="15" name="Text 12"/>
          <p:cNvSpPr/>
          <p:nvPr/>
        </p:nvSpPr>
        <p:spPr>
          <a:xfrm>
            <a:off x="4617720" y="4069080"/>
            <a:ext cx="2011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Machine Learning &amp; AI</a:t>
            </a:r>
            <a:endParaRPr lang="en-US" sz="900" dirty="0"/>
          </a:p>
        </p:txBody>
      </p:sp>
      <p:sp>
        <p:nvSpPr>
          <p:cNvPr id="16" name="Text 13"/>
          <p:cNvSpPr/>
          <p:nvPr/>
        </p:nvSpPr>
        <p:spPr>
          <a:xfrm>
            <a:off x="4617720" y="4370832"/>
            <a:ext cx="2011680" cy="502920"/>
          </a:xfrm>
          <a:prstGeom prst="rect">
            <a:avLst/>
          </a:prstGeom>
          <a:noFill/>
          <a:ln/>
        </p:spPr>
        <p:txBody>
          <a:bodyPr wrap="square" rtlCol="0" anchor="ctr"/>
          <a:lstStyle/>
          <a:p>
            <a:pPr marL="0" indent="0" algn="ctr">
              <a:buNone/>
            </a:pPr>
            <a:r>
              <a:rPr lang="en-US" sz="1100" b="1" dirty="0">
                <a:solidFill>
                  <a:srgbClr val="00A896"/>
                </a:solidFill>
                <a:latin typeface="Trebuchet MS" pitchFamily="34" charset="0"/>
                <a:ea typeface="Trebuchet MS" pitchFamily="34" charset="-122"/>
                <a:cs typeface="Trebuchet MS" pitchFamily="34" charset="-120"/>
              </a:rPr>
              <a:t>5 of 7 HODs</a:t>
            </a:r>
            <a:endParaRPr lang="en-US" sz="1100" dirty="0"/>
          </a:p>
        </p:txBody>
      </p:sp>
      <p:sp>
        <p:nvSpPr>
          <p:cNvPr id="17" name="Shape 14"/>
          <p:cNvSpPr/>
          <p:nvPr/>
        </p:nvSpPr>
        <p:spPr>
          <a:xfrm>
            <a:off x="6812280" y="4069080"/>
            <a:ext cx="2011680" cy="868680"/>
          </a:xfrm>
          <a:prstGeom prst="rect">
            <a:avLst/>
          </a:prstGeom>
          <a:solidFill>
            <a:srgbClr val="FFFFFF"/>
          </a:solidFill>
          <a:ln w="12700">
            <a:solidFill>
              <a:srgbClr val="F59E0B"/>
            </a:solidFill>
            <a:prstDash val="solid"/>
          </a:ln>
          <a:effectLst>
            <a:outerShdw blurRad="101600" dist="25400" dir="8100000" algn="bl" rotWithShape="0">
              <a:srgbClr val="000000">
                <a:alpha val="10000"/>
              </a:srgbClr>
            </a:outerShdw>
          </a:effectLst>
        </p:spPr>
        <p:txBody>
          <a:bodyPr/>
          <a:lstStyle/>
          <a:p>
            <a:endParaRPr lang="en-US"/>
          </a:p>
        </p:txBody>
      </p:sp>
      <p:sp>
        <p:nvSpPr>
          <p:cNvPr id="18" name="Shape 15"/>
          <p:cNvSpPr/>
          <p:nvPr/>
        </p:nvSpPr>
        <p:spPr>
          <a:xfrm>
            <a:off x="6812280" y="4069080"/>
            <a:ext cx="2011680" cy="274320"/>
          </a:xfrm>
          <a:prstGeom prst="rect">
            <a:avLst/>
          </a:prstGeom>
          <a:solidFill>
            <a:srgbClr val="F59E0B"/>
          </a:solidFill>
          <a:ln w="12700">
            <a:solidFill>
              <a:srgbClr val="F59E0B"/>
            </a:solidFill>
            <a:prstDash val="solid"/>
          </a:ln>
        </p:spPr>
        <p:txBody>
          <a:bodyPr/>
          <a:lstStyle/>
          <a:p>
            <a:endParaRPr lang="en-US"/>
          </a:p>
        </p:txBody>
      </p:sp>
      <p:sp>
        <p:nvSpPr>
          <p:cNvPr id="19" name="Text 16"/>
          <p:cNvSpPr/>
          <p:nvPr/>
        </p:nvSpPr>
        <p:spPr>
          <a:xfrm>
            <a:off x="6812280" y="4069080"/>
            <a:ext cx="2011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COVID-19 &amp; Pandemic Effects</a:t>
            </a:r>
            <a:endParaRPr lang="en-US" sz="900" dirty="0"/>
          </a:p>
        </p:txBody>
      </p:sp>
      <p:sp>
        <p:nvSpPr>
          <p:cNvPr id="20" name="Text 17"/>
          <p:cNvSpPr/>
          <p:nvPr/>
        </p:nvSpPr>
        <p:spPr>
          <a:xfrm>
            <a:off x="6812280" y="4370832"/>
            <a:ext cx="2011680" cy="502920"/>
          </a:xfrm>
          <a:prstGeom prst="rect">
            <a:avLst/>
          </a:prstGeom>
          <a:noFill/>
          <a:ln/>
        </p:spPr>
        <p:txBody>
          <a:bodyPr wrap="square" rtlCol="0" anchor="ctr"/>
          <a:lstStyle/>
          <a:p>
            <a:pPr marL="0" indent="0" algn="ctr">
              <a:buNone/>
            </a:pPr>
            <a:r>
              <a:rPr lang="en-US" sz="1100" b="1" dirty="0">
                <a:solidFill>
                  <a:srgbClr val="F59E0B"/>
                </a:solidFill>
                <a:latin typeface="Trebuchet MS" pitchFamily="34" charset="0"/>
                <a:ea typeface="Trebuchet MS" pitchFamily="34" charset="-122"/>
                <a:cs typeface="Trebuchet MS" pitchFamily="34" charset="-120"/>
              </a:rPr>
              <a:t>4 of 7 HODs</a:t>
            </a:r>
            <a:endParaRPr lang="en-US" sz="1100" dirty="0"/>
          </a:p>
        </p:txBody>
      </p:sp>
      <p:pic>
        <p:nvPicPr>
          <p:cNvPr id="22" name="Picture 21">
            <a:extLst>
              <a:ext uri="{FF2B5EF4-FFF2-40B4-BE49-F238E27FC236}">
                <a16:creationId xmlns:a16="http://schemas.microsoft.com/office/drawing/2014/main" id="{4EDE43E4-CB21-EDB3-FEF3-71F290745075}"/>
              </a:ext>
            </a:extLst>
          </p:cNvPr>
          <p:cNvPicPr>
            <a:picLocks noChangeAspect="1"/>
          </p:cNvPicPr>
          <p:nvPr/>
        </p:nvPicPr>
        <p:blipFill>
          <a:blip r:embed="rId3"/>
          <a:stretch>
            <a:fillRect/>
          </a:stretch>
        </p:blipFill>
        <p:spPr>
          <a:xfrm>
            <a:off x="0" y="822960"/>
            <a:ext cx="9144000" cy="31821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Q(f) · Cross-HOD Keyword Overlap &amp; Collaboration Potential</a:t>
            </a:r>
            <a:endParaRPr lang="en-US" sz="2000" dirty="0"/>
          </a:p>
        </p:txBody>
      </p:sp>
      <p:sp>
        <p:nvSpPr>
          <p:cNvPr id="5" name="Shape 2"/>
          <p:cNvSpPr/>
          <p:nvPr/>
        </p:nvSpPr>
        <p:spPr>
          <a:xfrm>
            <a:off x="6035040" y="868680"/>
            <a:ext cx="2926080" cy="4023360"/>
          </a:xfrm>
          <a:prstGeom prst="rect">
            <a:avLst/>
          </a:prstGeom>
          <a:solidFill>
            <a:srgbClr val="E0F2F7"/>
          </a:solidFill>
          <a:ln w="12700">
            <a:solidFill>
              <a:srgbClr val="CBD5E1"/>
            </a:solidFill>
            <a:prstDash val="solid"/>
          </a:ln>
        </p:spPr>
        <p:txBody>
          <a:bodyPr/>
          <a:lstStyle/>
          <a:p>
            <a:endParaRPr lang="en-US"/>
          </a:p>
        </p:txBody>
      </p:sp>
      <p:sp>
        <p:nvSpPr>
          <p:cNvPr id="6" name="Text 3"/>
          <p:cNvSpPr/>
          <p:nvPr/>
        </p:nvSpPr>
        <p:spPr>
          <a:xfrm>
            <a:off x="6035040" y="868680"/>
            <a:ext cx="2926080" cy="365760"/>
          </a:xfrm>
          <a:prstGeom prst="rect">
            <a:avLst/>
          </a:prstGeom>
          <a:noFill/>
          <a:ln/>
        </p:spPr>
        <p:txBody>
          <a:bodyPr wrap="square" rtlCol="0" anchor="ctr"/>
          <a:lstStyle/>
          <a:p>
            <a:pPr marL="0" indent="0" algn="ctr">
              <a:buNone/>
            </a:pPr>
            <a:r>
              <a:rPr lang="en-US" sz="1300" b="1" dirty="0">
                <a:solidFill>
                  <a:srgbClr val="1B3A6B"/>
                </a:solidFill>
                <a:latin typeface="Trebuchet MS" pitchFamily="34" charset="0"/>
                <a:ea typeface="Trebuchet MS" pitchFamily="34" charset="-122"/>
                <a:cs typeface="Trebuchet MS" pitchFamily="34" charset="-120"/>
              </a:rPr>
              <a:t>Top Overlaps</a:t>
            </a:r>
            <a:endParaRPr lang="en-US" sz="1300" dirty="0"/>
          </a:p>
        </p:txBody>
      </p:sp>
      <p:sp>
        <p:nvSpPr>
          <p:cNvPr id="7" name="Shape 4"/>
          <p:cNvSpPr/>
          <p:nvPr/>
        </p:nvSpPr>
        <p:spPr>
          <a:xfrm>
            <a:off x="6080760" y="1298448"/>
            <a:ext cx="384048" cy="347472"/>
          </a:xfrm>
          <a:prstGeom prst="rect">
            <a:avLst/>
          </a:prstGeom>
          <a:solidFill>
            <a:srgbClr val="EF4444"/>
          </a:solidFill>
          <a:ln w="12700">
            <a:solidFill>
              <a:srgbClr val="EF4444"/>
            </a:solidFill>
            <a:prstDash val="solid"/>
          </a:ln>
        </p:spPr>
        <p:txBody>
          <a:bodyPr/>
          <a:lstStyle/>
          <a:p>
            <a:endParaRPr lang="en-US"/>
          </a:p>
        </p:txBody>
      </p:sp>
      <p:sp>
        <p:nvSpPr>
          <p:cNvPr id="8" name="Text 5"/>
          <p:cNvSpPr/>
          <p:nvPr/>
        </p:nvSpPr>
        <p:spPr>
          <a:xfrm>
            <a:off x="6080760" y="1298448"/>
            <a:ext cx="38404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10</a:t>
            </a:r>
            <a:endParaRPr lang="en-US" sz="1300" dirty="0"/>
          </a:p>
        </p:txBody>
      </p:sp>
      <p:sp>
        <p:nvSpPr>
          <p:cNvPr id="9" name="Text 6"/>
          <p:cNvSpPr/>
          <p:nvPr/>
        </p:nvSpPr>
        <p:spPr>
          <a:xfrm>
            <a:off x="6510528" y="1298448"/>
            <a:ext cx="2377440" cy="182880"/>
          </a:xfrm>
          <a:prstGeom prst="rect">
            <a:avLst/>
          </a:prstGeom>
          <a:noFill/>
          <a:ln/>
        </p:spPr>
        <p:txBody>
          <a:bodyPr wrap="square" rtlCol="0" anchor="ctr"/>
          <a:lstStyle/>
          <a:p>
            <a:pPr marL="0" indent="0">
              <a:buNone/>
            </a:pPr>
            <a:r>
              <a:rPr lang="en-US" sz="950" b="1" dirty="0">
                <a:solidFill>
                  <a:srgbClr val="1B3A6B"/>
                </a:solidFill>
                <a:latin typeface="Trebuchet MS" pitchFamily="34" charset="0"/>
                <a:ea typeface="Trebuchet MS" pitchFamily="34" charset="-122"/>
                <a:cs typeface="Trebuchet MS" pitchFamily="34" charset="-120"/>
              </a:rPr>
              <a:t>HR ↔ Marketing</a:t>
            </a:r>
            <a:endParaRPr lang="en-US" sz="950" dirty="0"/>
          </a:p>
        </p:txBody>
      </p:sp>
      <p:sp>
        <p:nvSpPr>
          <p:cNvPr id="10" name="Text 7"/>
          <p:cNvSpPr/>
          <p:nvPr/>
        </p:nvSpPr>
        <p:spPr>
          <a:xfrm>
            <a:off x="6510528" y="1481328"/>
            <a:ext cx="2377440" cy="16459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CSR, export, business, firm, Ghana</a:t>
            </a:r>
            <a:endParaRPr lang="en-US" sz="850" dirty="0"/>
          </a:p>
        </p:txBody>
      </p:sp>
      <p:sp>
        <p:nvSpPr>
          <p:cNvPr id="11" name="Shape 8"/>
          <p:cNvSpPr/>
          <p:nvPr/>
        </p:nvSpPr>
        <p:spPr>
          <a:xfrm>
            <a:off x="6080760" y="1801368"/>
            <a:ext cx="384048" cy="347472"/>
          </a:xfrm>
          <a:prstGeom prst="rect">
            <a:avLst/>
          </a:prstGeom>
          <a:solidFill>
            <a:srgbClr val="EF4444"/>
          </a:solidFill>
          <a:ln w="12700">
            <a:solidFill>
              <a:srgbClr val="EF4444"/>
            </a:solidFill>
            <a:prstDash val="solid"/>
          </a:ln>
        </p:spPr>
        <p:txBody>
          <a:bodyPr/>
          <a:lstStyle/>
          <a:p>
            <a:endParaRPr lang="en-US"/>
          </a:p>
        </p:txBody>
      </p:sp>
      <p:sp>
        <p:nvSpPr>
          <p:cNvPr id="12" name="Text 9"/>
          <p:cNvSpPr/>
          <p:nvPr/>
        </p:nvSpPr>
        <p:spPr>
          <a:xfrm>
            <a:off x="6080760" y="1801368"/>
            <a:ext cx="38404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8</a:t>
            </a:r>
            <a:endParaRPr lang="en-US" sz="1300" dirty="0"/>
          </a:p>
        </p:txBody>
      </p:sp>
      <p:sp>
        <p:nvSpPr>
          <p:cNvPr id="13" name="Text 10"/>
          <p:cNvSpPr/>
          <p:nvPr/>
        </p:nvSpPr>
        <p:spPr>
          <a:xfrm>
            <a:off x="6510528" y="1801368"/>
            <a:ext cx="2377440" cy="182880"/>
          </a:xfrm>
          <a:prstGeom prst="rect">
            <a:avLst/>
          </a:prstGeom>
          <a:noFill/>
          <a:ln/>
        </p:spPr>
        <p:txBody>
          <a:bodyPr wrap="square" rtlCol="0" anchor="ctr"/>
          <a:lstStyle/>
          <a:p>
            <a:pPr marL="0" indent="0">
              <a:buNone/>
            </a:pPr>
            <a:r>
              <a:rPr lang="en-US" sz="950" b="1" dirty="0">
                <a:solidFill>
                  <a:srgbClr val="1B3A6B"/>
                </a:solidFill>
                <a:latin typeface="Trebuchet MS" pitchFamily="34" charset="0"/>
                <a:ea typeface="Trebuchet MS" pitchFamily="34" charset="-122"/>
                <a:cs typeface="Trebuchet MS" pitchFamily="34" charset="-120"/>
              </a:rPr>
              <a:t>Finance ↔ HR</a:t>
            </a:r>
            <a:endParaRPr lang="en-US" sz="950" dirty="0"/>
          </a:p>
        </p:txBody>
      </p:sp>
      <p:sp>
        <p:nvSpPr>
          <p:cNvPr id="14" name="Text 11"/>
          <p:cNvSpPr/>
          <p:nvPr/>
        </p:nvSpPr>
        <p:spPr>
          <a:xfrm>
            <a:off x="6510528" y="1984248"/>
            <a:ext cx="2377440" cy="16459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Board, corporate, country, development</a:t>
            </a:r>
            <a:endParaRPr lang="en-US" sz="850" dirty="0"/>
          </a:p>
        </p:txBody>
      </p:sp>
      <p:sp>
        <p:nvSpPr>
          <p:cNvPr id="15" name="Shape 12"/>
          <p:cNvSpPr/>
          <p:nvPr/>
        </p:nvSpPr>
        <p:spPr>
          <a:xfrm>
            <a:off x="6080760" y="2304288"/>
            <a:ext cx="384048" cy="347472"/>
          </a:xfrm>
          <a:prstGeom prst="rect">
            <a:avLst/>
          </a:prstGeom>
          <a:solidFill>
            <a:srgbClr val="EF4444"/>
          </a:solidFill>
          <a:ln w="12700">
            <a:solidFill>
              <a:srgbClr val="EF4444"/>
            </a:solidFill>
            <a:prstDash val="solid"/>
          </a:ln>
        </p:spPr>
        <p:txBody>
          <a:bodyPr/>
          <a:lstStyle/>
          <a:p>
            <a:endParaRPr lang="en-US"/>
          </a:p>
        </p:txBody>
      </p:sp>
      <p:sp>
        <p:nvSpPr>
          <p:cNvPr id="16" name="Text 13"/>
          <p:cNvSpPr/>
          <p:nvPr/>
        </p:nvSpPr>
        <p:spPr>
          <a:xfrm>
            <a:off x="6080760" y="2304288"/>
            <a:ext cx="38404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8</a:t>
            </a:r>
            <a:endParaRPr lang="en-US" sz="1300" dirty="0"/>
          </a:p>
        </p:txBody>
      </p:sp>
      <p:sp>
        <p:nvSpPr>
          <p:cNvPr id="17" name="Text 14"/>
          <p:cNvSpPr/>
          <p:nvPr/>
        </p:nvSpPr>
        <p:spPr>
          <a:xfrm>
            <a:off x="6510528" y="2304288"/>
            <a:ext cx="2377440" cy="182880"/>
          </a:xfrm>
          <a:prstGeom prst="rect">
            <a:avLst/>
          </a:prstGeom>
          <a:noFill/>
          <a:ln/>
        </p:spPr>
        <p:txBody>
          <a:bodyPr wrap="square" rtlCol="0" anchor="ctr"/>
          <a:lstStyle/>
          <a:p>
            <a:pPr marL="0" indent="0">
              <a:buNone/>
            </a:pPr>
            <a:r>
              <a:rPr lang="en-US" sz="950" b="1" dirty="0">
                <a:solidFill>
                  <a:srgbClr val="1B3A6B"/>
                </a:solidFill>
                <a:latin typeface="Trebuchet MS" pitchFamily="34" charset="0"/>
                <a:ea typeface="Trebuchet MS" pitchFamily="34" charset="-122"/>
                <a:cs typeface="Trebuchet MS" pitchFamily="34" charset="-120"/>
              </a:rPr>
              <a:t>Finance ↔ Public Admin</a:t>
            </a:r>
            <a:endParaRPr lang="en-US" sz="950" dirty="0"/>
          </a:p>
        </p:txBody>
      </p:sp>
      <p:sp>
        <p:nvSpPr>
          <p:cNvPr id="18" name="Text 15"/>
          <p:cNvSpPr/>
          <p:nvPr/>
        </p:nvSpPr>
        <p:spPr>
          <a:xfrm>
            <a:off x="6510528" y="2487168"/>
            <a:ext cx="2377440" cy="16459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Country, development, economic, govt</a:t>
            </a:r>
            <a:endParaRPr lang="en-US" sz="850" dirty="0"/>
          </a:p>
        </p:txBody>
      </p:sp>
      <p:sp>
        <p:nvSpPr>
          <p:cNvPr id="19" name="Shape 16"/>
          <p:cNvSpPr/>
          <p:nvPr/>
        </p:nvSpPr>
        <p:spPr>
          <a:xfrm>
            <a:off x="6080760" y="2807208"/>
            <a:ext cx="384048" cy="347472"/>
          </a:xfrm>
          <a:prstGeom prst="rect">
            <a:avLst/>
          </a:prstGeom>
          <a:solidFill>
            <a:srgbClr val="F59E0B"/>
          </a:solidFill>
          <a:ln w="12700">
            <a:solidFill>
              <a:srgbClr val="F59E0B"/>
            </a:solidFill>
            <a:prstDash val="solid"/>
          </a:ln>
        </p:spPr>
        <p:txBody>
          <a:bodyPr/>
          <a:lstStyle/>
          <a:p>
            <a:endParaRPr lang="en-US"/>
          </a:p>
        </p:txBody>
      </p:sp>
      <p:sp>
        <p:nvSpPr>
          <p:cNvPr id="20" name="Text 17"/>
          <p:cNvSpPr/>
          <p:nvPr/>
        </p:nvSpPr>
        <p:spPr>
          <a:xfrm>
            <a:off x="6080760" y="2807208"/>
            <a:ext cx="38404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7</a:t>
            </a:r>
            <a:endParaRPr lang="en-US" sz="1300" dirty="0"/>
          </a:p>
        </p:txBody>
      </p:sp>
      <p:sp>
        <p:nvSpPr>
          <p:cNvPr id="21" name="Text 18"/>
          <p:cNvSpPr/>
          <p:nvPr/>
        </p:nvSpPr>
        <p:spPr>
          <a:xfrm>
            <a:off x="6510528" y="2807208"/>
            <a:ext cx="2377440" cy="182880"/>
          </a:xfrm>
          <a:prstGeom prst="rect">
            <a:avLst/>
          </a:prstGeom>
          <a:noFill/>
          <a:ln/>
        </p:spPr>
        <p:txBody>
          <a:bodyPr wrap="square" rtlCol="0" anchor="ctr"/>
          <a:lstStyle/>
          <a:p>
            <a:pPr marL="0" indent="0">
              <a:buNone/>
            </a:pPr>
            <a:r>
              <a:rPr lang="en-US" sz="950" b="1" dirty="0">
                <a:solidFill>
                  <a:srgbClr val="1B3A6B"/>
                </a:solidFill>
                <a:latin typeface="Trebuchet MS" pitchFamily="34" charset="0"/>
                <a:ea typeface="Trebuchet MS" pitchFamily="34" charset="-122"/>
                <a:cs typeface="Trebuchet MS" pitchFamily="34" charset="-120"/>
              </a:rPr>
              <a:t>OMIS ↔ Finance</a:t>
            </a:r>
            <a:endParaRPr lang="en-US" sz="950" dirty="0"/>
          </a:p>
        </p:txBody>
      </p:sp>
      <p:sp>
        <p:nvSpPr>
          <p:cNvPr id="22" name="Text 19"/>
          <p:cNvSpPr/>
          <p:nvPr/>
        </p:nvSpPr>
        <p:spPr>
          <a:xfrm>
            <a:off x="6510528" y="2990088"/>
            <a:ext cx="2377440" cy="16459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Cost, country, data, GDP, Ghana</a:t>
            </a:r>
            <a:endParaRPr lang="en-US" sz="850" dirty="0"/>
          </a:p>
        </p:txBody>
      </p:sp>
      <p:sp>
        <p:nvSpPr>
          <p:cNvPr id="23" name="Shape 20"/>
          <p:cNvSpPr/>
          <p:nvPr/>
        </p:nvSpPr>
        <p:spPr>
          <a:xfrm>
            <a:off x="6080760" y="3310128"/>
            <a:ext cx="384048" cy="347472"/>
          </a:xfrm>
          <a:prstGeom prst="rect">
            <a:avLst/>
          </a:prstGeom>
          <a:solidFill>
            <a:srgbClr val="F59E0B"/>
          </a:solidFill>
          <a:ln w="12700">
            <a:solidFill>
              <a:srgbClr val="F59E0B"/>
            </a:solidFill>
            <a:prstDash val="solid"/>
          </a:ln>
        </p:spPr>
        <p:txBody>
          <a:bodyPr/>
          <a:lstStyle/>
          <a:p>
            <a:endParaRPr lang="en-US"/>
          </a:p>
        </p:txBody>
      </p:sp>
      <p:sp>
        <p:nvSpPr>
          <p:cNvPr id="24" name="Text 21"/>
          <p:cNvSpPr/>
          <p:nvPr/>
        </p:nvSpPr>
        <p:spPr>
          <a:xfrm>
            <a:off x="6080760" y="3310128"/>
            <a:ext cx="38404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7</a:t>
            </a:r>
            <a:endParaRPr lang="en-US" sz="1300" dirty="0"/>
          </a:p>
        </p:txBody>
      </p:sp>
      <p:sp>
        <p:nvSpPr>
          <p:cNvPr id="25" name="Text 22"/>
          <p:cNvSpPr/>
          <p:nvPr/>
        </p:nvSpPr>
        <p:spPr>
          <a:xfrm>
            <a:off x="6510528" y="3310128"/>
            <a:ext cx="2377440" cy="182880"/>
          </a:xfrm>
          <a:prstGeom prst="rect">
            <a:avLst/>
          </a:prstGeom>
          <a:noFill/>
          <a:ln/>
        </p:spPr>
        <p:txBody>
          <a:bodyPr wrap="square" rtlCol="0" anchor="ctr"/>
          <a:lstStyle/>
          <a:p>
            <a:pPr marL="0" indent="0">
              <a:buNone/>
            </a:pPr>
            <a:r>
              <a:rPr lang="en-US" sz="950" b="1" dirty="0">
                <a:solidFill>
                  <a:srgbClr val="1B3A6B"/>
                </a:solidFill>
                <a:latin typeface="Trebuchet MS" pitchFamily="34" charset="0"/>
                <a:ea typeface="Trebuchet MS" pitchFamily="34" charset="-122"/>
                <a:cs typeface="Trebuchet MS" pitchFamily="34" charset="-120"/>
              </a:rPr>
              <a:t>HR ↔ Public Admin</a:t>
            </a:r>
            <a:endParaRPr lang="en-US" sz="950" dirty="0"/>
          </a:p>
        </p:txBody>
      </p:sp>
      <p:sp>
        <p:nvSpPr>
          <p:cNvPr id="26" name="Text 23"/>
          <p:cNvSpPr/>
          <p:nvPr/>
        </p:nvSpPr>
        <p:spPr>
          <a:xfrm>
            <a:off x="6510528" y="3493008"/>
            <a:ext cx="2377440" cy="16459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Country, development, mgmt, performance</a:t>
            </a:r>
            <a:endParaRPr lang="en-US" sz="850" dirty="0"/>
          </a:p>
        </p:txBody>
      </p:sp>
      <p:sp>
        <p:nvSpPr>
          <p:cNvPr id="27" name="Shape 24"/>
          <p:cNvSpPr/>
          <p:nvPr/>
        </p:nvSpPr>
        <p:spPr>
          <a:xfrm>
            <a:off x="6080760" y="3813048"/>
            <a:ext cx="384048" cy="347472"/>
          </a:xfrm>
          <a:prstGeom prst="rect">
            <a:avLst/>
          </a:prstGeom>
          <a:solidFill>
            <a:srgbClr val="F59E0B"/>
          </a:solidFill>
          <a:ln w="12700">
            <a:solidFill>
              <a:srgbClr val="F59E0B"/>
            </a:solidFill>
            <a:prstDash val="solid"/>
          </a:ln>
        </p:spPr>
        <p:txBody>
          <a:bodyPr/>
          <a:lstStyle/>
          <a:p>
            <a:endParaRPr lang="en-US"/>
          </a:p>
        </p:txBody>
      </p:sp>
      <p:sp>
        <p:nvSpPr>
          <p:cNvPr id="28" name="Text 25"/>
          <p:cNvSpPr/>
          <p:nvPr/>
        </p:nvSpPr>
        <p:spPr>
          <a:xfrm>
            <a:off x="6080760" y="3813048"/>
            <a:ext cx="38404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6</a:t>
            </a:r>
            <a:endParaRPr lang="en-US" sz="1300" dirty="0"/>
          </a:p>
        </p:txBody>
      </p:sp>
      <p:sp>
        <p:nvSpPr>
          <p:cNvPr id="29" name="Text 26"/>
          <p:cNvSpPr/>
          <p:nvPr/>
        </p:nvSpPr>
        <p:spPr>
          <a:xfrm>
            <a:off x="6510528" y="3813048"/>
            <a:ext cx="2377440" cy="182880"/>
          </a:xfrm>
          <a:prstGeom prst="rect">
            <a:avLst/>
          </a:prstGeom>
          <a:noFill/>
          <a:ln/>
        </p:spPr>
        <p:txBody>
          <a:bodyPr wrap="square" rtlCol="0" anchor="ctr"/>
          <a:lstStyle/>
          <a:p>
            <a:pPr marL="0" indent="0">
              <a:buNone/>
            </a:pPr>
            <a:r>
              <a:rPr lang="en-US" sz="950" b="1" dirty="0">
                <a:solidFill>
                  <a:srgbClr val="1B3A6B"/>
                </a:solidFill>
                <a:latin typeface="Trebuchet MS" pitchFamily="34" charset="0"/>
                <a:ea typeface="Trebuchet MS" pitchFamily="34" charset="-122"/>
                <a:cs typeface="Trebuchet MS" pitchFamily="34" charset="-120"/>
              </a:rPr>
              <a:t>Accounting ↔ Finance</a:t>
            </a:r>
            <a:endParaRPr lang="en-US" sz="950" dirty="0"/>
          </a:p>
        </p:txBody>
      </p:sp>
      <p:sp>
        <p:nvSpPr>
          <p:cNvPr id="30" name="Text 27"/>
          <p:cNvSpPr/>
          <p:nvPr/>
        </p:nvSpPr>
        <p:spPr>
          <a:xfrm>
            <a:off x="6510528" y="3995928"/>
            <a:ext cx="2377440" cy="16459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Country, economic, financial, firm</a:t>
            </a:r>
            <a:endParaRPr lang="en-US" sz="850" dirty="0"/>
          </a:p>
        </p:txBody>
      </p:sp>
      <p:sp>
        <p:nvSpPr>
          <p:cNvPr id="31" name="Shape 28"/>
          <p:cNvSpPr/>
          <p:nvPr/>
        </p:nvSpPr>
        <p:spPr>
          <a:xfrm>
            <a:off x="6080760" y="4315968"/>
            <a:ext cx="384048" cy="347472"/>
          </a:xfrm>
          <a:prstGeom prst="rect">
            <a:avLst/>
          </a:prstGeom>
          <a:solidFill>
            <a:srgbClr val="F59E0B"/>
          </a:solidFill>
          <a:ln w="12700">
            <a:solidFill>
              <a:srgbClr val="F59E0B"/>
            </a:solidFill>
            <a:prstDash val="solid"/>
          </a:ln>
        </p:spPr>
        <p:txBody>
          <a:bodyPr/>
          <a:lstStyle/>
          <a:p>
            <a:endParaRPr lang="en-US"/>
          </a:p>
        </p:txBody>
      </p:sp>
      <p:sp>
        <p:nvSpPr>
          <p:cNvPr id="32" name="Text 29"/>
          <p:cNvSpPr/>
          <p:nvPr/>
        </p:nvSpPr>
        <p:spPr>
          <a:xfrm>
            <a:off x="6080760" y="4315968"/>
            <a:ext cx="38404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6</a:t>
            </a:r>
            <a:endParaRPr lang="en-US" sz="1300" dirty="0"/>
          </a:p>
        </p:txBody>
      </p:sp>
      <p:sp>
        <p:nvSpPr>
          <p:cNvPr id="33" name="Text 30"/>
          <p:cNvSpPr/>
          <p:nvPr/>
        </p:nvSpPr>
        <p:spPr>
          <a:xfrm>
            <a:off x="6510528" y="4315968"/>
            <a:ext cx="2377440" cy="182880"/>
          </a:xfrm>
          <a:prstGeom prst="rect">
            <a:avLst/>
          </a:prstGeom>
          <a:noFill/>
          <a:ln/>
        </p:spPr>
        <p:txBody>
          <a:bodyPr wrap="square" rtlCol="0" anchor="ctr"/>
          <a:lstStyle/>
          <a:p>
            <a:pPr marL="0" indent="0">
              <a:buNone/>
            </a:pPr>
            <a:r>
              <a:rPr lang="en-US" sz="950" b="1" dirty="0">
                <a:solidFill>
                  <a:srgbClr val="1B3A6B"/>
                </a:solidFill>
                <a:latin typeface="Trebuchet MS" pitchFamily="34" charset="0"/>
                <a:ea typeface="Trebuchet MS" pitchFamily="34" charset="-122"/>
                <a:cs typeface="Trebuchet MS" pitchFamily="34" charset="-120"/>
              </a:rPr>
              <a:t>Finance ↔ Marketing</a:t>
            </a:r>
            <a:endParaRPr lang="en-US" sz="950" dirty="0"/>
          </a:p>
        </p:txBody>
      </p:sp>
      <p:sp>
        <p:nvSpPr>
          <p:cNvPr id="34" name="Text 31"/>
          <p:cNvSpPr/>
          <p:nvPr/>
        </p:nvSpPr>
        <p:spPr>
          <a:xfrm>
            <a:off x="6510528" y="4498848"/>
            <a:ext cx="2377440" cy="16459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Bank, firm, Ghana, market, money</a:t>
            </a:r>
            <a:endParaRPr lang="en-US" sz="850" dirty="0"/>
          </a:p>
        </p:txBody>
      </p:sp>
      <p:pic>
        <p:nvPicPr>
          <p:cNvPr id="36" name="Picture 35">
            <a:extLst>
              <a:ext uri="{FF2B5EF4-FFF2-40B4-BE49-F238E27FC236}">
                <a16:creationId xmlns:a16="http://schemas.microsoft.com/office/drawing/2014/main" id="{03466D64-364A-61A4-3B1F-F35FDFA8AE2A}"/>
              </a:ext>
            </a:extLst>
          </p:cNvPr>
          <p:cNvPicPr>
            <a:picLocks noChangeAspect="1"/>
          </p:cNvPicPr>
          <p:nvPr/>
        </p:nvPicPr>
        <p:blipFill>
          <a:blip r:embed="rId3"/>
          <a:stretch>
            <a:fillRect/>
          </a:stretch>
        </p:blipFill>
        <p:spPr>
          <a:xfrm>
            <a:off x="-1" y="831087"/>
            <a:ext cx="5025814" cy="428172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7912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579120"/>
          </a:xfrm>
          <a:prstGeom prst="rect">
            <a:avLst/>
          </a:prstGeom>
          <a:noFill/>
          <a:ln/>
        </p:spPr>
        <p:txBody>
          <a:bodyPr wrap="square"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Q(f) · Collaboration Potential &amp; Shared Keywords Detail</a:t>
            </a:r>
            <a:endParaRPr lang="en-US" sz="2100" dirty="0"/>
          </a:p>
        </p:txBody>
      </p:sp>
      <p:pic>
        <p:nvPicPr>
          <p:cNvPr id="8" name="Picture 7">
            <a:extLst>
              <a:ext uri="{FF2B5EF4-FFF2-40B4-BE49-F238E27FC236}">
                <a16:creationId xmlns:a16="http://schemas.microsoft.com/office/drawing/2014/main" id="{65153EAD-57F7-0CFD-A357-3D283A7298D9}"/>
              </a:ext>
            </a:extLst>
          </p:cNvPr>
          <p:cNvPicPr>
            <a:picLocks noChangeAspect="1"/>
          </p:cNvPicPr>
          <p:nvPr/>
        </p:nvPicPr>
        <p:blipFill>
          <a:blip r:embed="rId3"/>
          <a:srcRect l="756" t="20789" b="17166"/>
          <a:stretch>
            <a:fillRect/>
          </a:stretch>
        </p:blipFill>
        <p:spPr>
          <a:xfrm>
            <a:off x="0" y="579120"/>
            <a:ext cx="7111999" cy="4562166"/>
          </a:xfrm>
          <a:prstGeom prst="rect">
            <a:avLst/>
          </a:prstGeom>
        </p:spPr>
      </p:pic>
      <p:sp>
        <p:nvSpPr>
          <p:cNvPr id="4" name="TextBox 3">
            <a:extLst>
              <a:ext uri="{FF2B5EF4-FFF2-40B4-BE49-F238E27FC236}">
                <a16:creationId xmlns:a16="http://schemas.microsoft.com/office/drawing/2014/main" id="{04BF347B-1F73-A95E-B5CD-AF35C52A6FF4}"/>
              </a:ext>
            </a:extLst>
          </p:cNvPr>
          <p:cNvSpPr txBox="1"/>
          <p:nvPr/>
        </p:nvSpPr>
        <p:spPr>
          <a:xfrm>
            <a:off x="7111999" y="782711"/>
            <a:ext cx="1866900" cy="4154984"/>
          </a:xfrm>
          <a:prstGeom prst="rect">
            <a:avLst/>
          </a:prstGeom>
          <a:noFill/>
        </p:spPr>
        <p:txBody>
          <a:bodyPr wrap="square" rtlCol="0">
            <a:spAutoFit/>
          </a:bodyPr>
          <a:lstStyle/>
          <a:p>
            <a:r>
              <a:rPr lang="en-US" sz="1200" b="1" dirty="0"/>
              <a:t>The table highlights the extent of shared research focus across HODs through common keywords. Frequent overlaps such as </a:t>
            </a:r>
            <a:r>
              <a:rPr lang="en-US" sz="1200" b="1" i="1" dirty="0"/>
              <a:t>“</a:t>
            </a:r>
            <a:r>
              <a:rPr lang="en-US" sz="1200" b="1" i="1" dirty="0">
                <a:solidFill>
                  <a:schemeClr val="accent1">
                    <a:lumMod val="75000"/>
                  </a:schemeClr>
                </a:solidFill>
              </a:rPr>
              <a:t>Ghana,” “country,” “firm,” and “development</a:t>
            </a:r>
            <a:r>
              <a:rPr lang="en-US" sz="1200" b="1" i="1" dirty="0"/>
              <a:t>”</a:t>
            </a:r>
            <a:r>
              <a:rPr lang="en-US" sz="1200" b="1" dirty="0"/>
              <a:t> indicate a strong shared emphasis on Ghana-centered, firm-level, and policy-relevant research.</a:t>
            </a:r>
          </a:p>
          <a:p>
            <a:r>
              <a:rPr lang="en-US" sz="1200" b="1" dirty="0"/>
              <a:t>Higher overlap between specific pairs, particularly </a:t>
            </a:r>
            <a:r>
              <a:rPr lang="en-US" sz="1200" b="1" dirty="0">
                <a:solidFill>
                  <a:schemeClr val="accent1">
                    <a:lumMod val="75000"/>
                  </a:schemeClr>
                </a:solidFill>
              </a:rPr>
              <a:t>Finance–HR, HR–Marketing, and Finance–Public Administration,</a:t>
            </a:r>
            <a:r>
              <a:rPr lang="en-US" sz="1200" b="1" dirty="0"/>
              <a:t> suggests strong thematic alignment and potential for interdisciplinary collaboration.</a:t>
            </a:r>
          </a:p>
          <a:p>
            <a:endParaRPr lang="en-US" sz="12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1AD741D-D91A-89AA-51ED-D1B9018488D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5AB262-1F72-2594-50F2-F1CBB2BFF8C1}"/>
              </a:ext>
            </a:extLst>
          </p:cNvPr>
          <p:cNvSpPr/>
          <p:nvPr/>
        </p:nvSpPr>
        <p:spPr>
          <a:xfrm>
            <a:off x="0" y="0"/>
            <a:ext cx="4572000" cy="822960"/>
          </a:xfrm>
          <a:prstGeom prst="rect">
            <a:avLst/>
          </a:prstGeom>
          <a:solidFill>
            <a:srgbClr val="1B3A6B"/>
          </a:solidFill>
          <a:ln w="12700">
            <a:solidFill>
              <a:srgbClr val="1B3A6B"/>
            </a:solidFill>
            <a:prstDash val="solid"/>
          </a:ln>
        </p:spPr>
        <p:txBody>
          <a:bodyPr/>
          <a:lstStyle/>
          <a:p>
            <a:endParaRPr lang="en-US"/>
          </a:p>
        </p:txBody>
      </p:sp>
      <p:sp>
        <p:nvSpPr>
          <p:cNvPr id="3" name="Text 1">
            <a:extLst>
              <a:ext uri="{FF2B5EF4-FFF2-40B4-BE49-F238E27FC236}">
                <a16:creationId xmlns:a16="http://schemas.microsoft.com/office/drawing/2014/main" id="{09DC020B-0FDF-FD79-4232-37A6F80F01D5}"/>
              </a:ext>
            </a:extLst>
          </p:cNvPr>
          <p:cNvSpPr/>
          <p:nvPr/>
        </p:nvSpPr>
        <p:spPr>
          <a:xfrm>
            <a:off x="365760" y="0"/>
            <a:ext cx="857826" cy="822960"/>
          </a:xfrm>
          <a:prstGeom prst="rect">
            <a:avLst/>
          </a:prstGeom>
          <a:noFill/>
          <a:ln/>
        </p:spPr>
        <p:txBody>
          <a:bodyPr wrap="square"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Q(f)</a:t>
            </a:r>
            <a:endParaRPr lang="en-US" sz="2100" dirty="0"/>
          </a:p>
        </p:txBody>
      </p:sp>
      <p:pic>
        <p:nvPicPr>
          <p:cNvPr id="29" name="Picture 28">
            <a:extLst>
              <a:ext uri="{FF2B5EF4-FFF2-40B4-BE49-F238E27FC236}">
                <a16:creationId xmlns:a16="http://schemas.microsoft.com/office/drawing/2014/main" id="{0B4C05CE-19CC-791A-495A-B240329574F0}"/>
              </a:ext>
            </a:extLst>
          </p:cNvPr>
          <p:cNvPicPr>
            <a:picLocks noChangeAspect="1"/>
          </p:cNvPicPr>
          <p:nvPr/>
        </p:nvPicPr>
        <p:blipFill>
          <a:blip r:embed="rId3"/>
          <a:stretch>
            <a:fillRect/>
          </a:stretch>
        </p:blipFill>
        <p:spPr>
          <a:xfrm>
            <a:off x="-6577" y="822960"/>
            <a:ext cx="4637783" cy="4320540"/>
          </a:xfrm>
          <a:prstGeom prst="rect">
            <a:avLst/>
          </a:prstGeom>
        </p:spPr>
      </p:pic>
      <p:pic>
        <p:nvPicPr>
          <p:cNvPr id="7" name="Picture 6">
            <a:extLst>
              <a:ext uri="{FF2B5EF4-FFF2-40B4-BE49-F238E27FC236}">
                <a16:creationId xmlns:a16="http://schemas.microsoft.com/office/drawing/2014/main" id="{BD419894-8A45-0FF7-6067-82CDFF60A685}"/>
              </a:ext>
            </a:extLst>
          </p:cNvPr>
          <p:cNvPicPr>
            <a:picLocks noChangeAspect="1"/>
          </p:cNvPicPr>
          <p:nvPr/>
        </p:nvPicPr>
        <p:blipFill>
          <a:blip r:embed="rId4"/>
          <a:stretch>
            <a:fillRect/>
          </a:stretch>
        </p:blipFill>
        <p:spPr>
          <a:xfrm>
            <a:off x="4631206" y="0"/>
            <a:ext cx="4512794" cy="5143500"/>
          </a:xfrm>
          <a:prstGeom prst="rect">
            <a:avLst/>
          </a:prstGeom>
        </p:spPr>
      </p:pic>
      <p:sp>
        <p:nvSpPr>
          <p:cNvPr id="4" name="TextBox 3">
            <a:extLst>
              <a:ext uri="{FF2B5EF4-FFF2-40B4-BE49-F238E27FC236}">
                <a16:creationId xmlns:a16="http://schemas.microsoft.com/office/drawing/2014/main" id="{F61841BE-57ED-D3D9-C623-890FE6C0C4E9}"/>
              </a:ext>
            </a:extLst>
          </p:cNvPr>
          <p:cNvSpPr txBox="1"/>
          <p:nvPr/>
        </p:nvSpPr>
        <p:spPr>
          <a:xfrm>
            <a:off x="6925733" y="524934"/>
            <a:ext cx="2218267" cy="2123658"/>
          </a:xfrm>
          <a:prstGeom prst="rect">
            <a:avLst/>
          </a:prstGeom>
          <a:noFill/>
        </p:spPr>
        <p:txBody>
          <a:bodyPr wrap="square" rtlCol="0">
            <a:spAutoFit/>
          </a:bodyPr>
          <a:lstStyle/>
          <a:p>
            <a:pPr algn="just"/>
            <a:r>
              <a:rPr lang="en-US" sz="1100" b="1" dirty="0">
                <a:solidFill>
                  <a:schemeClr val="accent1">
                    <a:lumMod val="75000"/>
                  </a:schemeClr>
                </a:solidFill>
              </a:rPr>
              <a:t>The heatmap and ranking charts confirm that while all HODs share some common ground, certain pairs exhibit deeper thematic alignment, especially around development, governance, and business performance.</a:t>
            </a:r>
          </a:p>
          <a:p>
            <a:pPr algn="just"/>
            <a:endParaRPr lang="en-US" sz="1100" b="1" dirty="0">
              <a:solidFill>
                <a:schemeClr val="accent1">
                  <a:lumMod val="75000"/>
                </a:schemeClr>
              </a:solidFill>
            </a:endParaRPr>
          </a:p>
          <a:p>
            <a:pPr algn="just"/>
            <a:endParaRPr lang="en-US" sz="1100" b="1" dirty="0">
              <a:solidFill>
                <a:schemeClr val="accent1">
                  <a:lumMod val="75000"/>
                </a:schemeClr>
              </a:solidFill>
            </a:endParaRPr>
          </a:p>
          <a:p>
            <a:pPr algn="just"/>
            <a:r>
              <a:rPr lang="en-US" sz="1100" b="1" dirty="0">
                <a:solidFill>
                  <a:schemeClr val="accent1">
                    <a:lumMod val="75000"/>
                  </a:schemeClr>
                </a:solidFill>
              </a:rPr>
              <a:t>Strong collaboration potential, especially across HR, Marketing, and Finance.</a:t>
            </a:r>
          </a:p>
        </p:txBody>
      </p:sp>
    </p:spTree>
    <p:extLst>
      <p:ext uri="{BB962C8B-B14F-4D97-AF65-F5344CB8AC3E}">
        <p14:creationId xmlns:p14="http://schemas.microsoft.com/office/powerpoint/2010/main" val="2656923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12 · HOD Comparison Summary Table</a:t>
            </a:r>
            <a:endParaRPr lang="en-US" sz="2400" dirty="0"/>
          </a:p>
        </p:txBody>
      </p:sp>
      <p:grpSp>
        <p:nvGrpSpPr>
          <p:cNvPr id="100" name="Group 99">
            <a:extLst>
              <a:ext uri="{FF2B5EF4-FFF2-40B4-BE49-F238E27FC236}">
                <a16:creationId xmlns:a16="http://schemas.microsoft.com/office/drawing/2014/main" id="{00D6899E-C37A-7A28-69AA-4ABD558B9F96}"/>
              </a:ext>
            </a:extLst>
          </p:cNvPr>
          <p:cNvGrpSpPr/>
          <p:nvPr/>
        </p:nvGrpSpPr>
        <p:grpSpPr>
          <a:xfrm>
            <a:off x="0" y="822960"/>
            <a:ext cx="9144000" cy="4320540"/>
            <a:chOff x="137160" y="886968"/>
            <a:chExt cx="9006840" cy="4178808"/>
          </a:xfrm>
        </p:grpSpPr>
        <p:sp>
          <p:nvSpPr>
            <p:cNvPr id="4" name="Shape 2"/>
            <p:cNvSpPr/>
            <p:nvPr/>
          </p:nvSpPr>
          <p:spPr>
            <a:xfrm>
              <a:off x="137160" y="886968"/>
              <a:ext cx="1325880" cy="365760"/>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137160" y="886968"/>
              <a:ext cx="132588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HOD (Dept)</a:t>
              </a:r>
              <a:endParaRPr lang="en-US" sz="950" dirty="0"/>
            </a:p>
          </p:txBody>
        </p:sp>
        <p:sp>
          <p:nvSpPr>
            <p:cNvPr id="6" name="Shape 4"/>
            <p:cNvSpPr/>
            <p:nvPr/>
          </p:nvSpPr>
          <p:spPr>
            <a:xfrm>
              <a:off x="1481328" y="886968"/>
              <a:ext cx="2011680" cy="36576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1481328" y="886968"/>
              <a:ext cx="201168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Top 3 Themes</a:t>
              </a:r>
              <a:endParaRPr lang="en-US" sz="950" dirty="0"/>
            </a:p>
          </p:txBody>
        </p:sp>
        <p:sp>
          <p:nvSpPr>
            <p:cNvPr id="8" name="Shape 6"/>
            <p:cNvSpPr/>
            <p:nvPr/>
          </p:nvSpPr>
          <p:spPr>
            <a:xfrm>
              <a:off x="3511296" y="886968"/>
              <a:ext cx="731520" cy="365760"/>
            </a:xfrm>
            <a:prstGeom prst="rect">
              <a:avLst/>
            </a:prstGeom>
            <a:solidFill>
              <a:srgbClr val="028090"/>
            </a:solidFill>
            <a:ln w="12700">
              <a:solidFill>
                <a:srgbClr val="028090"/>
              </a:solidFill>
              <a:prstDash val="solid"/>
            </a:ln>
          </p:spPr>
          <p:txBody>
            <a:bodyPr/>
            <a:lstStyle/>
            <a:p>
              <a:endParaRPr lang="en-US"/>
            </a:p>
          </p:txBody>
        </p:sp>
        <p:sp>
          <p:nvSpPr>
            <p:cNvPr id="9" name="Text 7"/>
            <p:cNvSpPr/>
            <p:nvPr/>
          </p:nvSpPr>
          <p:spPr>
            <a:xfrm>
              <a:off x="3511296" y="886968"/>
              <a:ext cx="73152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Method</a:t>
              </a:r>
              <a:endParaRPr lang="en-US" sz="950" dirty="0"/>
            </a:p>
          </p:txBody>
        </p:sp>
        <p:sp>
          <p:nvSpPr>
            <p:cNvPr id="10" name="Shape 8"/>
            <p:cNvSpPr/>
            <p:nvPr/>
          </p:nvSpPr>
          <p:spPr>
            <a:xfrm>
              <a:off x="4261104" y="886968"/>
              <a:ext cx="685800" cy="365760"/>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261104" y="886968"/>
              <a:ext cx="68580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Orient.</a:t>
              </a:r>
              <a:endParaRPr lang="en-US" sz="950" dirty="0"/>
            </a:p>
          </p:txBody>
        </p:sp>
        <p:sp>
          <p:nvSpPr>
            <p:cNvPr id="12" name="Shape 10"/>
            <p:cNvSpPr/>
            <p:nvPr/>
          </p:nvSpPr>
          <p:spPr>
            <a:xfrm>
              <a:off x="4965192" y="886968"/>
              <a:ext cx="640080" cy="365760"/>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4965192" y="886968"/>
              <a:ext cx="64008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Val %</a:t>
              </a:r>
              <a:endParaRPr lang="en-US" sz="950" dirty="0"/>
            </a:p>
          </p:txBody>
        </p:sp>
        <p:sp>
          <p:nvSpPr>
            <p:cNvPr id="14" name="Shape 12"/>
            <p:cNvSpPr/>
            <p:nvPr/>
          </p:nvSpPr>
          <p:spPr>
            <a:xfrm>
              <a:off x="5623560" y="886968"/>
              <a:ext cx="3520440" cy="36576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5623560" y="886968"/>
              <a:ext cx="3520440" cy="365760"/>
            </a:xfrm>
            <a:prstGeom prst="rect">
              <a:avLst/>
            </a:prstGeom>
            <a:noFill/>
            <a:ln/>
          </p:spPr>
          <p:txBody>
            <a:bodyPr wrap="square" lIns="0" tIns="0" rIns="0" bIns="0" rtlCol="0" anchor="ct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Key Connections</a:t>
              </a:r>
              <a:endParaRPr lang="en-US" sz="950" dirty="0"/>
            </a:p>
          </p:txBody>
        </p:sp>
        <p:sp>
          <p:nvSpPr>
            <p:cNvPr id="16" name="Shape 14"/>
            <p:cNvSpPr/>
            <p:nvPr/>
          </p:nvSpPr>
          <p:spPr>
            <a:xfrm>
              <a:off x="137160" y="1271016"/>
              <a:ext cx="1325880" cy="530352"/>
            </a:xfrm>
            <a:prstGeom prst="rect">
              <a:avLst/>
            </a:prstGeom>
            <a:solidFill>
              <a:srgbClr val="FFFFFF"/>
            </a:solidFill>
            <a:ln w="12700">
              <a:solidFill>
                <a:srgbClr val="CBD5E1"/>
              </a:solidFill>
              <a:prstDash val="solid"/>
            </a:ln>
          </p:spPr>
          <p:txBody>
            <a:bodyPr/>
            <a:lstStyle/>
            <a:p>
              <a:endParaRPr lang="en-US"/>
            </a:p>
          </p:txBody>
        </p:sp>
        <p:sp>
          <p:nvSpPr>
            <p:cNvPr id="17" name="Text 15"/>
            <p:cNvSpPr/>
            <p:nvPr/>
          </p:nvSpPr>
          <p:spPr>
            <a:xfrm>
              <a:off x="173736" y="1289304"/>
              <a:ext cx="1252728" cy="493776"/>
            </a:xfrm>
            <a:prstGeom prst="rect">
              <a:avLst/>
            </a:prstGeom>
            <a:noFill/>
            <a:ln/>
          </p:spPr>
          <p:txBody>
            <a:bodyPr wrap="square"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Accounting</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Prof. G. Owusu</a:t>
              </a:r>
              <a:endParaRPr lang="en-US" sz="900" dirty="0"/>
            </a:p>
          </p:txBody>
        </p:sp>
        <p:sp>
          <p:nvSpPr>
            <p:cNvPr id="18" name="Shape 16"/>
            <p:cNvSpPr/>
            <p:nvPr/>
          </p:nvSpPr>
          <p:spPr>
            <a:xfrm>
              <a:off x="1481328" y="1271016"/>
              <a:ext cx="2011680" cy="530352"/>
            </a:xfrm>
            <a:prstGeom prst="rect">
              <a:avLst/>
            </a:prstGeom>
            <a:solidFill>
              <a:srgbClr val="FFFFFF"/>
            </a:solidFill>
            <a:ln w="12700">
              <a:solidFill>
                <a:srgbClr val="CBD5E1"/>
              </a:solidFill>
              <a:prstDash val="solid"/>
            </a:ln>
          </p:spPr>
          <p:txBody>
            <a:bodyPr/>
            <a:lstStyle/>
            <a:p>
              <a:endParaRPr lang="en-US"/>
            </a:p>
          </p:txBody>
        </p:sp>
        <p:sp>
          <p:nvSpPr>
            <p:cNvPr id="19" name="Text 17"/>
            <p:cNvSpPr/>
            <p:nvPr/>
          </p:nvSpPr>
          <p:spPr>
            <a:xfrm>
              <a:off x="1517904" y="1289304"/>
              <a:ext cx="19385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Sustainability</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Tax Compliance</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Financial Behaviour</a:t>
              </a:r>
              <a:endParaRPr lang="en-US" sz="900" dirty="0"/>
            </a:p>
          </p:txBody>
        </p:sp>
        <p:sp>
          <p:nvSpPr>
            <p:cNvPr id="20" name="Shape 18"/>
            <p:cNvSpPr/>
            <p:nvPr/>
          </p:nvSpPr>
          <p:spPr>
            <a:xfrm>
              <a:off x="3511296" y="1271016"/>
              <a:ext cx="731520" cy="530352"/>
            </a:xfrm>
            <a:prstGeom prst="rect">
              <a:avLst/>
            </a:prstGeom>
            <a:solidFill>
              <a:srgbClr val="FFFFFF"/>
            </a:solidFill>
            <a:ln w="12700">
              <a:solidFill>
                <a:srgbClr val="CBD5E1"/>
              </a:solidFill>
              <a:prstDash val="solid"/>
            </a:ln>
          </p:spPr>
          <p:txBody>
            <a:bodyPr/>
            <a:lstStyle/>
            <a:p>
              <a:endParaRPr lang="en-US"/>
            </a:p>
          </p:txBody>
        </p:sp>
        <p:sp>
          <p:nvSpPr>
            <p:cNvPr id="21" name="Text 19"/>
            <p:cNvSpPr/>
            <p:nvPr/>
          </p:nvSpPr>
          <p:spPr>
            <a:xfrm>
              <a:off x="3547872" y="1289304"/>
              <a:ext cx="65836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Quant</a:t>
              </a:r>
              <a:endParaRPr lang="en-US" sz="900" dirty="0"/>
            </a:p>
          </p:txBody>
        </p:sp>
        <p:sp>
          <p:nvSpPr>
            <p:cNvPr id="22" name="Shape 20"/>
            <p:cNvSpPr/>
            <p:nvPr/>
          </p:nvSpPr>
          <p:spPr>
            <a:xfrm>
              <a:off x="4261104" y="1271016"/>
              <a:ext cx="685800" cy="530352"/>
            </a:xfrm>
            <a:prstGeom prst="rect">
              <a:avLst/>
            </a:prstGeom>
            <a:solidFill>
              <a:srgbClr val="FFFFFF"/>
            </a:solidFill>
            <a:ln w="12700">
              <a:solidFill>
                <a:srgbClr val="CBD5E1"/>
              </a:solidFill>
              <a:prstDash val="solid"/>
            </a:ln>
          </p:spPr>
          <p:txBody>
            <a:bodyPr/>
            <a:lstStyle/>
            <a:p>
              <a:endParaRPr lang="en-US"/>
            </a:p>
          </p:txBody>
        </p:sp>
        <p:sp>
          <p:nvSpPr>
            <p:cNvPr id="23" name="Text 21"/>
            <p:cNvSpPr/>
            <p:nvPr/>
          </p:nvSpPr>
          <p:spPr>
            <a:xfrm>
              <a:off x="4297680" y="1289304"/>
              <a:ext cx="61264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Applied</a:t>
              </a:r>
              <a:endParaRPr lang="en-US" sz="900" dirty="0"/>
            </a:p>
          </p:txBody>
        </p:sp>
        <p:sp>
          <p:nvSpPr>
            <p:cNvPr id="24" name="Shape 22"/>
            <p:cNvSpPr/>
            <p:nvPr/>
          </p:nvSpPr>
          <p:spPr>
            <a:xfrm>
              <a:off x="4965192" y="1271016"/>
              <a:ext cx="640080" cy="530352"/>
            </a:xfrm>
            <a:prstGeom prst="rect">
              <a:avLst/>
            </a:prstGeom>
            <a:solidFill>
              <a:srgbClr val="FFFFFF"/>
            </a:solidFill>
            <a:ln w="12700">
              <a:solidFill>
                <a:srgbClr val="CBD5E1"/>
              </a:solidFill>
              <a:prstDash val="solid"/>
            </a:ln>
          </p:spPr>
          <p:txBody>
            <a:bodyPr/>
            <a:lstStyle/>
            <a:p>
              <a:endParaRPr lang="en-US"/>
            </a:p>
          </p:txBody>
        </p:sp>
        <p:sp>
          <p:nvSpPr>
            <p:cNvPr id="25" name="Text 23"/>
            <p:cNvSpPr/>
            <p:nvPr/>
          </p:nvSpPr>
          <p:spPr>
            <a:xfrm>
              <a:off x="5001768" y="1289304"/>
              <a:ext cx="5669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55.6%</a:t>
              </a:r>
              <a:endParaRPr lang="en-US" sz="900" dirty="0"/>
            </a:p>
          </p:txBody>
        </p:sp>
        <p:sp>
          <p:nvSpPr>
            <p:cNvPr id="26" name="Shape 24"/>
            <p:cNvSpPr/>
            <p:nvPr/>
          </p:nvSpPr>
          <p:spPr>
            <a:xfrm>
              <a:off x="5623560" y="1271016"/>
              <a:ext cx="3520440" cy="530352"/>
            </a:xfrm>
            <a:prstGeom prst="rect">
              <a:avLst/>
            </a:prstGeom>
            <a:solidFill>
              <a:srgbClr val="FFFFFF"/>
            </a:solidFill>
            <a:ln w="12700">
              <a:solidFill>
                <a:srgbClr val="CBD5E1"/>
              </a:solidFill>
              <a:prstDash val="solid"/>
            </a:ln>
          </p:spPr>
          <p:txBody>
            <a:bodyPr/>
            <a:lstStyle/>
            <a:p>
              <a:endParaRPr lang="en-US"/>
            </a:p>
          </p:txBody>
        </p:sp>
        <p:sp>
          <p:nvSpPr>
            <p:cNvPr id="27" name="Text 25"/>
            <p:cNvSpPr/>
            <p:nvPr/>
          </p:nvSpPr>
          <p:spPr>
            <a:xfrm>
              <a:off x="5660136" y="1289304"/>
              <a:ext cx="344728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Finance (financial)</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HR (firm, factor)</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All (Ghana)</a:t>
              </a:r>
              <a:endParaRPr lang="en-US" sz="900" dirty="0"/>
            </a:p>
          </p:txBody>
        </p:sp>
        <p:sp>
          <p:nvSpPr>
            <p:cNvPr id="28" name="Shape 26"/>
            <p:cNvSpPr/>
            <p:nvPr/>
          </p:nvSpPr>
          <p:spPr>
            <a:xfrm>
              <a:off x="137160" y="1815084"/>
              <a:ext cx="1325880" cy="530352"/>
            </a:xfrm>
            <a:prstGeom prst="rect">
              <a:avLst/>
            </a:prstGeom>
            <a:solidFill>
              <a:srgbClr val="E0F2F7"/>
            </a:solidFill>
            <a:ln w="12700">
              <a:solidFill>
                <a:srgbClr val="CBD5E1"/>
              </a:solidFill>
              <a:prstDash val="solid"/>
            </a:ln>
          </p:spPr>
          <p:txBody>
            <a:bodyPr/>
            <a:lstStyle/>
            <a:p>
              <a:endParaRPr lang="en-US"/>
            </a:p>
          </p:txBody>
        </p:sp>
        <p:sp>
          <p:nvSpPr>
            <p:cNvPr id="29" name="Text 27"/>
            <p:cNvSpPr/>
            <p:nvPr/>
          </p:nvSpPr>
          <p:spPr>
            <a:xfrm>
              <a:off x="173736" y="1833372"/>
              <a:ext cx="1252728" cy="493776"/>
            </a:xfrm>
            <a:prstGeom prst="rect">
              <a:avLst/>
            </a:prstGeom>
            <a:noFill/>
            <a:ln/>
          </p:spPr>
          <p:txBody>
            <a:bodyPr wrap="square"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Finance</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Dr. Vera Fiador</a:t>
              </a:r>
              <a:endParaRPr lang="en-US" sz="900" dirty="0"/>
            </a:p>
          </p:txBody>
        </p:sp>
        <p:sp>
          <p:nvSpPr>
            <p:cNvPr id="30" name="Shape 28"/>
            <p:cNvSpPr/>
            <p:nvPr/>
          </p:nvSpPr>
          <p:spPr>
            <a:xfrm>
              <a:off x="1481328" y="1815084"/>
              <a:ext cx="2011680" cy="530352"/>
            </a:xfrm>
            <a:prstGeom prst="rect">
              <a:avLst/>
            </a:prstGeom>
            <a:solidFill>
              <a:srgbClr val="E0F2F7"/>
            </a:solidFill>
            <a:ln w="12700">
              <a:solidFill>
                <a:srgbClr val="CBD5E1"/>
              </a:solidFill>
              <a:prstDash val="solid"/>
            </a:ln>
          </p:spPr>
          <p:txBody>
            <a:bodyPr/>
            <a:lstStyle/>
            <a:p>
              <a:endParaRPr lang="en-US"/>
            </a:p>
          </p:txBody>
        </p:sp>
        <p:sp>
          <p:nvSpPr>
            <p:cNvPr id="31" name="Text 29"/>
            <p:cNvSpPr/>
            <p:nvPr/>
          </p:nvSpPr>
          <p:spPr>
            <a:xfrm>
              <a:off x="1517904" y="1833372"/>
              <a:ext cx="19385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Corp. Governance</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Econ. Growth</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Earnings Mgmt</a:t>
              </a:r>
              <a:endParaRPr lang="en-US" sz="900" dirty="0"/>
            </a:p>
          </p:txBody>
        </p:sp>
        <p:sp>
          <p:nvSpPr>
            <p:cNvPr id="32" name="Shape 30"/>
            <p:cNvSpPr/>
            <p:nvPr/>
          </p:nvSpPr>
          <p:spPr>
            <a:xfrm>
              <a:off x="3511296" y="1815084"/>
              <a:ext cx="731520" cy="530352"/>
            </a:xfrm>
            <a:prstGeom prst="rect">
              <a:avLst/>
            </a:prstGeom>
            <a:solidFill>
              <a:srgbClr val="E0F2F7"/>
            </a:solidFill>
            <a:ln w="12700">
              <a:solidFill>
                <a:srgbClr val="CBD5E1"/>
              </a:solidFill>
              <a:prstDash val="solid"/>
            </a:ln>
          </p:spPr>
          <p:txBody>
            <a:bodyPr/>
            <a:lstStyle/>
            <a:p>
              <a:endParaRPr lang="en-US"/>
            </a:p>
          </p:txBody>
        </p:sp>
        <p:sp>
          <p:nvSpPr>
            <p:cNvPr id="33" name="Text 31"/>
            <p:cNvSpPr/>
            <p:nvPr/>
          </p:nvSpPr>
          <p:spPr>
            <a:xfrm>
              <a:off x="3547872" y="1833372"/>
              <a:ext cx="65836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Quant</a:t>
              </a:r>
              <a:endParaRPr lang="en-US" sz="900" dirty="0"/>
            </a:p>
          </p:txBody>
        </p:sp>
        <p:sp>
          <p:nvSpPr>
            <p:cNvPr id="34" name="Shape 32"/>
            <p:cNvSpPr/>
            <p:nvPr/>
          </p:nvSpPr>
          <p:spPr>
            <a:xfrm>
              <a:off x="4261104" y="1815084"/>
              <a:ext cx="685800" cy="530352"/>
            </a:xfrm>
            <a:prstGeom prst="rect">
              <a:avLst/>
            </a:prstGeom>
            <a:solidFill>
              <a:srgbClr val="E0F2F7"/>
            </a:solidFill>
            <a:ln w="12700">
              <a:solidFill>
                <a:srgbClr val="CBD5E1"/>
              </a:solidFill>
              <a:prstDash val="solid"/>
            </a:ln>
          </p:spPr>
          <p:txBody>
            <a:bodyPr/>
            <a:lstStyle/>
            <a:p>
              <a:endParaRPr lang="en-US"/>
            </a:p>
          </p:txBody>
        </p:sp>
        <p:sp>
          <p:nvSpPr>
            <p:cNvPr id="35" name="Text 33"/>
            <p:cNvSpPr/>
            <p:nvPr/>
          </p:nvSpPr>
          <p:spPr>
            <a:xfrm>
              <a:off x="4297680" y="1833372"/>
              <a:ext cx="61264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Applied</a:t>
              </a:r>
              <a:endParaRPr lang="en-US" sz="900" dirty="0"/>
            </a:p>
          </p:txBody>
        </p:sp>
        <p:sp>
          <p:nvSpPr>
            <p:cNvPr id="36" name="Shape 34"/>
            <p:cNvSpPr/>
            <p:nvPr/>
          </p:nvSpPr>
          <p:spPr>
            <a:xfrm>
              <a:off x="4965192" y="1815084"/>
              <a:ext cx="640080" cy="530352"/>
            </a:xfrm>
            <a:prstGeom prst="rect">
              <a:avLst/>
            </a:prstGeom>
            <a:solidFill>
              <a:srgbClr val="E0F2F7"/>
            </a:solidFill>
            <a:ln w="12700">
              <a:solidFill>
                <a:srgbClr val="CBD5E1"/>
              </a:solidFill>
              <a:prstDash val="solid"/>
            </a:ln>
          </p:spPr>
          <p:txBody>
            <a:bodyPr/>
            <a:lstStyle/>
            <a:p>
              <a:endParaRPr lang="en-US"/>
            </a:p>
          </p:txBody>
        </p:sp>
        <p:sp>
          <p:nvSpPr>
            <p:cNvPr id="37" name="Text 35"/>
            <p:cNvSpPr/>
            <p:nvPr/>
          </p:nvSpPr>
          <p:spPr>
            <a:xfrm>
              <a:off x="5001768" y="1833372"/>
              <a:ext cx="5669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14.7%</a:t>
              </a:r>
              <a:endParaRPr lang="en-US" sz="900" dirty="0"/>
            </a:p>
          </p:txBody>
        </p:sp>
        <p:sp>
          <p:nvSpPr>
            <p:cNvPr id="38" name="Shape 36"/>
            <p:cNvSpPr/>
            <p:nvPr/>
          </p:nvSpPr>
          <p:spPr>
            <a:xfrm>
              <a:off x="5623560" y="1815084"/>
              <a:ext cx="3520440" cy="530352"/>
            </a:xfrm>
            <a:prstGeom prst="rect">
              <a:avLst/>
            </a:prstGeom>
            <a:solidFill>
              <a:srgbClr val="E0F2F7"/>
            </a:solidFill>
            <a:ln w="12700">
              <a:solidFill>
                <a:srgbClr val="CBD5E1"/>
              </a:solidFill>
              <a:prstDash val="solid"/>
            </a:ln>
          </p:spPr>
          <p:txBody>
            <a:bodyPr/>
            <a:lstStyle/>
            <a:p>
              <a:endParaRPr lang="en-US"/>
            </a:p>
          </p:txBody>
        </p:sp>
        <p:sp>
          <p:nvSpPr>
            <p:cNvPr id="39" name="Text 37"/>
            <p:cNvSpPr/>
            <p:nvPr/>
          </p:nvSpPr>
          <p:spPr>
            <a:xfrm>
              <a:off x="5660136" y="1833372"/>
              <a:ext cx="344728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HR (board, corporate)</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Public Admin (economic)</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OMIS (data)</a:t>
              </a:r>
              <a:endParaRPr lang="en-US" sz="900" dirty="0"/>
            </a:p>
          </p:txBody>
        </p:sp>
        <p:sp>
          <p:nvSpPr>
            <p:cNvPr id="40" name="Shape 38"/>
            <p:cNvSpPr/>
            <p:nvPr/>
          </p:nvSpPr>
          <p:spPr>
            <a:xfrm>
              <a:off x="137160" y="2359152"/>
              <a:ext cx="1325880" cy="530352"/>
            </a:xfrm>
            <a:prstGeom prst="rect">
              <a:avLst/>
            </a:prstGeom>
            <a:solidFill>
              <a:srgbClr val="FFFFFF"/>
            </a:solidFill>
            <a:ln w="12700">
              <a:solidFill>
                <a:srgbClr val="CBD5E1"/>
              </a:solidFill>
              <a:prstDash val="solid"/>
            </a:ln>
          </p:spPr>
          <p:txBody>
            <a:bodyPr/>
            <a:lstStyle/>
            <a:p>
              <a:endParaRPr lang="en-US"/>
            </a:p>
          </p:txBody>
        </p:sp>
        <p:sp>
          <p:nvSpPr>
            <p:cNvPr id="41" name="Text 39"/>
            <p:cNvSpPr/>
            <p:nvPr/>
          </p:nvSpPr>
          <p:spPr>
            <a:xfrm>
              <a:off x="173736" y="2377440"/>
              <a:ext cx="1252728" cy="493776"/>
            </a:xfrm>
            <a:prstGeom prst="rect">
              <a:avLst/>
            </a:prstGeom>
            <a:noFill/>
            <a:ln/>
          </p:spPr>
          <p:txBody>
            <a:bodyPr wrap="square"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HR / OHRM</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Obi Berko Obeng</a:t>
              </a:r>
              <a:endParaRPr lang="en-US" sz="900" dirty="0"/>
            </a:p>
          </p:txBody>
        </p:sp>
        <p:sp>
          <p:nvSpPr>
            <p:cNvPr id="42" name="Shape 40"/>
            <p:cNvSpPr/>
            <p:nvPr/>
          </p:nvSpPr>
          <p:spPr>
            <a:xfrm>
              <a:off x="1481328" y="2359152"/>
              <a:ext cx="2011680" cy="530352"/>
            </a:xfrm>
            <a:prstGeom prst="rect">
              <a:avLst/>
            </a:prstGeom>
            <a:solidFill>
              <a:srgbClr val="FFFFFF"/>
            </a:solidFill>
            <a:ln w="12700">
              <a:solidFill>
                <a:srgbClr val="CBD5E1"/>
              </a:solidFill>
              <a:prstDash val="solid"/>
            </a:ln>
          </p:spPr>
          <p:txBody>
            <a:bodyPr/>
            <a:lstStyle/>
            <a:p>
              <a:endParaRPr lang="en-US"/>
            </a:p>
          </p:txBody>
        </p:sp>
        <p:sp>
          <p:nvSpPr>
            <p:cNvPr id="43" name="Text 41"/>
            <p:cNvSpPr/>
            <p:nvPr/>
          </p:nvSpPr>
          <p:spPr>
            <a:xfrm>
              <a:off x="1517904" y="2377440"/>
              <a:ext cx="19385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CSR &amp; Ethics</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Decent Work</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Business Export</a:t>
              </a:r>
              <a:endParaRPr lang="en-US" sz="900" dirty="0"/>
            </a:p>
          </p:txBody>
        </p:sp>
        <p:sp>
          <p:nvSpPr>
            <p:cNvPr id="44" name="Shape 42"/>
            <p:cNvSpPr/>
            <p:nvPr/>
          </p:nvSpPr>
          <p:spPr>
            <a:xfrm>
              <a:off x="3511296" y="2359152"/>
              <a:ext cx="731520" cy="530352"/>
            </a:xfrm>
            <a:prstGeom prst="rect">
              <a:avLst/>
            </a:prstGeom>
            <a:solidFill>
              <a:srgbClr val="FFFFFF"/>
            </a:solidFill>
            <a:ln w="12700">
              <a:solidFill>
                <a:srgbClr val="CBD5E1"/>
              </a:solidFill>
              <a:prstDash val="solid"/>
            </a:ln>
          </p:spPr>
          <p:txBody>
            <a:bodyPr/>
            <a:lstStyle/>
            <a:p>
              <a:endParaRPr lang="en-US"/>
            </a:p>
          </p:txBody>
        </p:sp>
        <p:sp>
          <p:nvSpPr>
            <p:cNvPr id="45" name="Text 43"/>
            <p:cNvSpPr/>
            <p:nvPr/>
          </p:nvSpPr>
          <p:spPr>
            <a:xfrm>
              <a:off x="3547872" y="2377440"/>
              <a:ext cx="65836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Quant</a:t>
              </a:r>
              <a:endParaRPr lang="en-US" sz="900" dirty="0"/>
            </a:p>
          </p:txBody>
        </p:sp>
        <p:sp>
          <p:nvSpPr>
            <p:cNvPr id="46" name="Shape 44"/>
            <p:cNvSpPr/>
            <p:nvPr/>
          </p:nvSpPr>
          <p:spPr>
            <a:xfrm>
              <a:off x="4261104" y="2359152"/>
              <a:ext cx="685800" cy="530352"/>
            </a:xfrm>
            <a:prstGeom prst="rect">
              <a:avLst/>
            </a:prstGeom>
            <a:solidFill>
              <a:srgbClr val="FFFFFF"/>
            </a:solidFill>
            <a:ln w="12700">
              <a:solidFill>
                <a:srgbClr val="CBD5E1"/>
              </a:solidFill>
              <a:prstDash val="solid"/>
            </a:ln>
          </p:spPr>
          <p:txBody>
            <a:bodyPr/>
            <a:lstStyle/>
            <a:p>
              <a:endParaRPr lang="en-US"/>
            </a:p>
          </p:txBody>
        </p:sp>
        <p:sp>
          <p:nvSpPr>
            <p:cNvPr id="47" name="Text 45"/>
            <p:cNvSpPr/>
            <p:nvPr/>
          </p:nvSpPr>
          <p:spPr>
            <a:xfrm>
              <a:off x="4297680" y="2377440"/>
              <a:ext cx="61264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Applied</a:t>
              </a:r>
              <a:endParaRPr lang="en-US" sz="900" dirty="0"/>
            </a:p>
          </p:txBody>
        </p:sp>
        <p:sp>
          <p:nvSpPr>
            <p:cNvPr id="48" name="Shape 46"/>
            <p:cNvSpPr/>
            <p:nvPr/>
          </p:nvSpPr>
          <p:spPr>
            <a:xfrm>
              <a:off x="4965192" y="2359152"/>
              <a:ext cx="640080" cy="530352"/>
            </a:xfrm>
            <a:prstGeom prst="rect">
              <a:avLst/>
            </a:prstGeom>
            <a:solidFill>
              <a:srgbClr val="FFFFFF"/>
            </a:solidFill>
            <a:ln w="12700">
              <a:solidFill>
                <a:srgbClr val="CBD5E1"/>
              </a:solidFill>
              <a:prstDash val="solid"/>
            </a:ln>
          </p:spPr>
          <p:txBody>
            <a:bodyPr/>
            <a:lstStyle/>
            <a:p>
              <a:endParaRPr lang="en-US"/>
            </a:p>
          </p:txBody>
        </p:sp>
        <p:sp>
          <p:nvSpPr>
            <p:cNvPr id="49" name="Text 47"/>
            <p:cNvSpPr/>
            <p:nvPr/>
          </p:nvSpPr>
          <p:spPr>
            <a:xfrm>
              <a:off x="5001768" y="2377440"/>
              <a:ext cx="5669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16.8%</a:t>
              </a:r>
              <a:endParaRPr lang="en-US" sz="900" dirty="0"/>
            </a:p>
          </p:txBody>
        </p:sp>
        <p:sp>
          <p:nvSpPr>
            <p:cNvPr id="50" name="Shape 48"/>
            <p:cNvSpPr/>
            <p:nvPr/>
          </p:nvSpPr>
          <p:spPr>
            <a:xfrm>
              <a:off x="5623560" y="2359152"/>
              <a:ext cx="3520440" cy="530352"/>
            </a:xfrm>
            <a:prstGeom prst="rect">
              <a:avLst/>
            </a:prstGeom>
            <a:solidFill>
              <a:srgbClr val="FFFFFF"/>
            </a:solidFill>
            <a:ln w="12700">
              <a:solidFill>
                <a:srgbClr val="CBD5E1"/>
              </a:solidFill>
              <a:prstDash val="solid"/>
            </a:ln>
          </p:spPr>
          <p:txBody>
            <a:bodyPr/>
            <a:lstStyle/>
            <a:p>
              <a:endParaRPr lang="en-US"/>
            </a:p>
          </p:txBody>
        </p:sp>
        <p:sp>
          <p:nvSpPr>
            <p:cNvPr id="51" name="Text 49"/>
            <p:cNvSpPr/>
            <p:nvPr/>
          </p:nvSpPr>
          <p:spPr>
            <a:xfrm>
              <a:off x="5660136" y="2377440"/>
              <a:ext cx="344728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Marketing (CSR) — 10</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Finance (board) — 8</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Public Admin — 7</a:t>
              </a:r>
              <a:endParaRPr lang="en-US" sz="900" dirty="0"/>
            </a:p>
          </p:txBody>
        </p:sp>
        <p:sp>
          <p:nvSpPr>
            <p:cNvPr id="52" name="Shape 50"/>
            <p:cNvSpPr/>
            <p:nvPr/>
          </p:nvSpPr>
          <p:spPr>
            <a:xfrm>
              <a:off x="137160" y="2903220"/>
              <a:ext cx="1325880" cy="530352"/>
            </a:xfrm>
            <a:prstGeom prst="rect">
              <a:avLst/>
            </a:prstGeom>
            <a:solidFill>
              <a:srgbClr val="E0F2F7"/>
            </a:solidFill>
            <a:ln w="12700">
              <a:solidFill>
                <a:srgbClr val="CBD5E1"/>
              </a:solidFill>
              <a:prstDash val="solid"/>
            </a:ln>
          </p:spPr>
          <p:txBody>
            <a:bodyPr/>
            <a:lstStyle/>
            <a:p>
              <a:endParaRPr lang="en-US"/>
            </a:p>
          </p:txBody>
        </p:sp>
        <p:sp>
          <p:nvSpPr>
            <p:cNvPr id="53" name="Text 51"/>
            <p:cNvSpPr/>
            <p:nvPr/>
          </p:nvSpPr>
          <p:spPr>
            <a:xfrm>
              <a:off x="173736" y="2921508"/>
              <a:ext cx="1252728" cy="493776"/>
            </a:xfrm>
            <a:prstGeom prst="rect">
              <a:avLst/>
            </a:prstGeom>
            <a:noFill/>
            <a:ln/>
          </p:spPr>
          <p:txBody>
            <a:bodyPr wrap="square"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HSM</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Prof. L. Yarney</a:t>
              </a:r>
              <a:endParaRPr lang="en-US" sz="900" dirty="0"/>
            </a:p>
          </p:txBody>
        </p:sp>
        <p:sp>
          <p:nvSpPr>
            <p:cNvPr id="54" name="Shape 52"/>
            <p:cNvSpPr/>
            <p:nvPr/>
          </p:nvSpPr>
          <p:spPr>
            <a:xfrm>
              <a:off x="1481328" y="2903220"/>
              <a:ext cx="2011680" cy="530352"/>
            </a:xfrm>
            <a:prstGeom prst="rect">
              <a:avLst/>
            </a:prstGeom>
            <a:solidFill>
              <a:srgbClr val="E0F2F7"/>
            </a:solidFill>
            <a:ln w="12700">
              <a:solidFill>
                <a:srgbClr val="CBD5E1"/>
              </a:solidFill>
              <a:prstDash val="solid"/>
            </a:ln>
          </p:spPr>
          <p:txBody>
            <a:bodyPr/>
            <a:lstStyle/>
            <a:p>
              <a:endParaRPr lang="en-US"/>
            </a:p>
          </p:txBody>
        </p:sp>
        <p:sp>
          <p:nvSpPr>
            <p:cNvPr id="55" name="Text 53"/>
            <p:cNvSpPr/>
            <p:nvPr/>
          </p:nvSpPr>
          <p:spPr>
            <a:xfrm>
              <a:off x="1517904" y="2921508"/>
              <a:ext cx="19385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Public Health</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Orphan Care</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Maternal Mortality</a:t>
              </a:r>
              <a:endParaRPr lang="en-US" sz="900" dirty="0"/>
            </a:p>
          </p:txBody>
        </p:sp>
        <p:sp>
          <p:nvSpPr>
            <p:cNvPr id="56" name="Shape 54"/>
            <p:cNvSpPr/>
            <p:nvPr/>
          </p:nvSpPr>
          <p:spPr>
            <a:xfrm>
              <a:off x="3511296" y="2903220"/>
              <a:ext cx="731520" cy="530352"/>
            </a:xfrm>
            <a:prstGeom prst="rect">
              <a:avLst/>
            </a:prstGeom>
            <a:solidFill>
              <a:srgbClr val="E0F2F7"/>
            </a:solidFill>
            <a:ln w="12700">
              <a:solidFill>
                <a:srgbClr val="CBD5E1"/>
              </a:solidFill>
              <a:prstDash val="solid"/>
            </a:ln>
          </p:spPr>
          <p:txBody>
            <a:bodyPr/>
            <a:lstStyle/>
            <a:p>
              <a:endParaRPr lang="en-US"/>
            </a:p>
          </p:txBody>
        </p:sp>
        <p:sp>
          <p:nvSpPr>
            <p:cNvPr id="57" name="Text 55"/>
            <p:cNvSpPr/>
            <p:nvPr/>
          </p:nvSpPr>
          <p:spPr>
            <a:xfrm>
              <a:off x="3547872" y="2921508"/>
              <a:ext cx="65836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Quant</a:t>
              </a:r>
              <a:endParaRPr lang="en-US" sz="900" dirty="0"/>
            </a:p>
          </p:txBody>
        </p:sp>
        <p:sp>
          <p:nvSpPr>
            <p:cNvPr id="58" name="Shape 56"/>
            <p:cNvSpPr/>
            <p:nvPr/>
          </p:nvSpPr>
          <p:spPr>
            <a:xfrm>
              <a:off x="4261104" y="2903220"/>
              <a:ext cx="685800" cy="530352"/>
            </a:xfrm>
            <a:prstGeom prst="rect">
              <a:avLst/>
            </a:prstGeom>
            <a:solidFill>
              <a:srgbClr val="E0F2F7"/>
            </a:solidFill>
            <a:ln w="12700">
              <a:solidFill>
                <a:srgbClr val="CBD5E1"/>
              </a:solidFill>
              <a:prstDash val="solid"/>
            </a:ln>
          </p:spPr>
          <p:txBody>
            <a:bodyPr/>
            <a:lstStyle/>
            <a:p>
              <a:endParaRPr lang="en-US"/>
            </a:p>
          </p:txBody>
        </p:sp>
        <p:sp>
          <p:nvSpPr>
            <p:cNvPr id="59" name="Text 57"/>
            <p:cNvSpPr/>
            <p:nvPr/>
          </p:nvSpPr>
          <p:spPr>
            <a:xfrm>
              <a:off x="4297680" y="2921508"/>
              <a:ext cx="61264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Applied</a:t>
              </a:r>
              <a:endParaRPr lang="en-US" sz="900" dirty="0"/>
            </a:p>
          </p:txBody>
        </p:sp>
        <p:sp>
          <p:nvSpPr>
            <p:cNvPr id="60" name="Shape 58"/>
            <p:cNvSpPr/>
            <p:nvPr/>
          </p:nvSpPr>
          <p:spPr>
            <a:xfrm>
              <a:off x="4965192" y="2903220"/>
              <a:ext cx="640080" cy="530352"/>
            </a:xfrm>
            <a:prstGeom prst="rect">
              <a:avLst/>
            </a:prstGeom>
            <a:solidFill>
              <a:srgbClr val="E0F2F7"/>
            </a:solidFill>
            <a:ln w="12700">
              <a:solidFill>
                <a:srgbClr val="CBD5E1"/>
              </a:solidFill>
              <a:prstDash val="solid"/>
            </a:ln>
          </p:spPr>
          <p:txBody>
            <a:bodyPr/>
            <a:lstStyle/>
            <a:p>
              <a:endParaRPr lang="en-US"/>
            </a:p>
          </p:txBody>
        </p:sp>
        <p:sp>
          <p:nvSpPr>
            <p:cNvPr id="61" name="Text 59"/>
            <p:cNvSpPr/>
            <p:nvPr/>
          </p:nvSpPr>
          <p:spPr>
            <a:xfrm>
              <a:off x="5001768" y="2921508"/>
              <a:ext cx="5669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36.4%</a:t>
              </a:r>
              <a:endParaRPr lang="en-US" sz="900" dirty="0"/>
            </a:p>
          </p:txBody>
        </p:sp>
        <p:sp>
          <p:nvSpPr>
            <p:cNvPr id="62" name="Shape 60"/>
            <p:cNvSpPr/>
            <p:nvPr/>
          </p:nvSpPr>
          <p:spPr>
            <a:xfrm>
              <a:off x="5623560" y="2903220"/>
              <a:ext cx="3520440" cy="530352"/>
            </a:xfrm>
            <a:prstGeom prst="rect">
              <a:avLst/>
            </a:prstGeom>
            <a:solidFill>
              <a:srgbClr val="E0F2F7"/>
            </a:solidFill>
            <a:ln w="12700">
              <a:solidFill>
                <a:srgbClr val="CBD5E1"/>
              </a:solidFill>
              <a:prstDash val="solid"/>
            </a:ln>
          </p:spPr>
          <p:txBody>
            <a:bodyPr/>
            <a:lstStyle/>
            <a:p>
              <a:endParaRPr lang="en-US"/>
            </a:p>
          </p:txBody>
        </p:sp>
        <p:sp>
          <p:nvSpPr>
            <p:cNvPr id="63" name="Text 61"/>
            <p:cNvSpPr/>
            <p:nvPr/>
          </p:nvSpPr>
          <p:spPr>
            <a:xfrm>
              <a:off x="5660136" y="2921508"/>
              <a:ext cx="344728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OMIS (health, data)</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HR (social, factor)</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Marketing (need)</a:t>
              </a:r>
              <a:endParaRPr lang="en-US" sz="900" dirty="0"/>
            </a:p>
          </p:txBody>
        </p:sp>
        <p:sp>
          <p:nvSpPr>
            <p:cNvPr id="64" name="Shape 62"/>
            <p:cNvSpPr/>
            <p:nvPr/>
          </p:nvSpPr>
          <p:spPr>
            <a:xfrm>
              <a:off x="137160" y="3447288"/>
              <a:ext cx="1325880" cy="530352"/>
            </a:xfrm>
            <a:prstGeom prst="rect">
              <a:avLst/>
            </a:prstGeom>
            <a:solidFill>
              <a:srgbClr val="FFFFFF"/>
            </a:solidFill>
            <a:ln w="12700">
              <a:solidFill>
                <a:srgbClr val="CBD5E1"/>
              </a:solidFill>
              <a:prstDash val="solid"/>
            </a:ln>
          </p:spPr>
          <p:txBody>
            <a:bodyPr/>
            <a:lstStyle/>
            <a:p>
              <a:endParaRPr lang="en-US"/>
            </a:p>
          </p:txBody>
        </p:sp>
        <p:sp>
          <p:nvSpPr>
            <p:cNvPr id="65" name="Text 63"/>
            <p:cNvSpPr/>
            <p:nvPr/>
          </p:nvSpPr>
          <p:spPr>
            <a:xfrm>
              <a:off x="173736" y="3465576"/>
              <a:ext cx="1252728" cy="493776"/>
            </a:xfrm>
            <a:prstGeom prst="rect">
              <a:avLst/>
            </a:prstGeom>
            <a:noFill/>
            <a:ln/>
          </p:spPr>
          <p:txBody>
            <a:bodyPr wrap="square"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Marketing</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Prof. M. Abdulai</a:t>
              </a:r>
              <a:endParaRPr lang="en-US" sz="900" dirty="0"/>
            </a:p>
          </p:txBody>
        </p:sp>
        <p:sp>
          <p:nvSpPr>
            <p:cNvPr id="66" name="Shape 64"/>
            <p:cNvSpPr/>
            <p:nvPr/>
          </p:nvSpPr>
          <p:spPr>
            <a:xfrm>
              <a:off x="1481328" y="3447288"/>
              <a:ext cx="2011680" cy="530352"/>
            </a:xfrm>
            <a:prstGeom prst="rect">
              <a:avLst/>
            </a:prstGeom>
            <a:solidFill>
              <a:srgbClr val="FFFFFF"/>
            </a:solidFill>
            <a:ln w="12700">
              <a:solidFill>
                <a:srgbClr val="CBD5E1"/>
              </a:solidFill>
              <a:prstDash val="solid"/>
            </a:ln>
          </p:spPr>
          <p:txBody>
            <a:bodyPr/>
            <a:lstStyle/>
            <a:p>
              <a:endParaRPr lang="en-US"/>
            </a:p>
          </p:txBody>
        </p:sp>
        <p:sp>
          <p:nvSpPr>
            <p:cNvPr id="67" name="Text 65"/>
            <p:cNvSpPr/>
            <p:nvPr/>
          </p:nvSpPr>
          <p:spPr>
            <a:xfrm>
              <a:off x="1517904" y="3465576"/>
              <a:ext cx="19385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Market Orientation</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Mobile Money</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Customer Retention</a:t>
              </a:r>
              <a:endParaRPr lang="en-US" sz="900" dirty="0"/>
            </a:p>
          </p:txBody>
        </p:sp>
        <p:sp>
          <p:nvSpPr>
            <p:cNvPr id="68" name="Shape 66"/>
            <p:cNvSpPr/>
            <p:nvPr/>
          </p:nvSpPr>
          <p:spPr>
            <a:xfrm>
              <a:off x="3511296" y="3447288"/>
              <a:ext cx="731520" cy="530352"/>
            </a:xfrm>
            <a:prstGeom prst="rect">
              <a:avLst/>
            </a:prstGeom>
            <a:solidFill>
              <a:srgbClr val="FFFFFF"/>
            </a:solidFill>
            <a:ln w="12700">
              <a:solidFill>
                <a:srgbClr val="CBD5E1"/>
              </a:solidFill>
              <a:prstDash val="solid"/>
            </a:ln>
          </p:spPr>
          <p:txBody>
            <a:bodyPr/>
            <a:lstStyle/>
            <a:p>
              <a:endParaRPr lang="en-US"/>
            </a:p>
          </p:txBody>
        </p:sp>
        <p:sp>
          <p:nvSpPr>
            <p:cNvPr id="69" name="Text 67"/>
            <p:cNvSpPr/>
            <p:nvPr/>
          </p:nvSpPr>
          <p:spPr>
            <a:xfrm>
              <a:off x="3547872" y="3465576"/>
              <a:ext cx="65836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Quant</a:t>
              </a:r>
              <a:endParaRPr lang="en-US" sz="900" dirty="0"/>
            </a:p>
          </p:txBody>
        </p:sp>
        <p:sp>
          <p:nvSpPr>
            <p:cNvPr id="70" name="Shape 68"/>
            <p:cNvSpPr/>
            <p:nvPr/>
          </p:nvSpPr>
          <p:spPr>
            <a:xfrm>
              <a:off x="4261104" y="3447288"/>
              <a:ext cx="685800" cy="530352"/>
            </a:xfrm>
            <a:prstGeom prst="rect">
              <a:avLst/>
            </a:prstGeom>
            <a:solidFill>
              <a:srgbClr val="FFFFFF"/>
            </a:solidFill>
            <a:ln w="12700">
              <a:solidFill>
                <a:srgbClr val="CBD5E1"/>
              </a:solidFill>
              <a:prstDash val="solid"/>
            </a:ln>
          </p:spPr>
          <p:txBody>
            <a:bodyPr/>
            <a:lstStyle/>
            <a:p>
              <a:endParaRPr lang="en-US"/>
            </a:p>
          </p:txBody>
        </p:sp>
        <p:sp>
          <p:nvSpPr>
            <p:cNvPr id="71" name="Text 69"/>
            <p:cNvSpPr/>
            <p:nvPr/>
          </p:nvSpPr>
          <p:spPr>
            <a:xfrm>
              <a:off x="4297680" y="3465576"/>
              <a:ext cx="61264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Applied</a:t>
              </a:r>
              <a:endParaRPr lang="en-US" sz="900" dirty="0"/>
            </a:p>
          </p:txBody>
        </p:sp>
        <p:sp>
          <p:nvSpPr>
            <p:cNvPr id="72" name="Shape 70"/>
            <p:cNvSpPr/>
            <p:nvPr/>
          </p:nvSpPr>
          <p:spPr>
            <a:xfrm>
              <a:off x="4965192" y="3447288"/>
              <a:ext cx="640080" cy="530352"/>
            </a:xfrm>
            <a:prstGeom prst="rect">
              <a:avLst/>
            </a:prstGeom>
            <a:solidFill>
              <a:srgbClr val="FFFFFF"/>
            </a:solidFill>
            <a:ln w="12700">
              <a:solidFill>
                <a:srgbClr val="CBD5E1"/>
              </a:solidFill>
              <a:prstDash val="solid"/>
            </a:ln>
          </p:spPr>
          <p:txBody>
            <a:bodyPr/>
            <a:lstStyle/>
            <a:p>
              <a:endParaRPr lang="en-US"/>
            </a:p>
          </p:txBody>
        </p:sp>
        <p:sp>
          <p:nvSpPr>
            <p:cNvPr id="73" name="Text 71"/>
            <p:cNvSpPr/>
            <p:nvPr/>
          </p:nvSpPr>
          <p:spPr>
            <a:xfrm>
              <a:off x="5001768" y="3465576"/>
              <a:ext cx="5669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28.7%</a:t>
              </a:r>
              <a:endParaRPr lang="en-US" sz="900" dirty="0"/>
            </a:p>
          </p:txBody>
        </p:sp>
        <p:sp>
          <p:nvSpPr>
            <p:cNvPr id="74" name="Shape 72"/>
            <p:cNvSpPr/>
            <p:nvPr/>
          </p:nvSpPr>
          <p:spPr>
            <a:xfrm>
              <a:off x="5623560" y="3447288"/>
              <a:ext cx="3520440" cy="530352"/>
            </a:xfrm>
            <a:prstGeom prst="rect">
              <a:avLst/>
            </a:prstGeom>
            <a:solidFill>
              <a:srgbClr val="FFFFFF"/>
            </a:solidFill>
            <a:ln w="12700">
              <a:solidFill>
                <a:srgbClr val="CBD5E1"/>
              </a:solidFill>
              <a:prstDash val="solid"/>
            </a:ln>
          </p:spPr>
          <p:txBody>
            <a:bodyPr/>
            <a:lstStyle/>
            <a:p>
              <a:endParaRPr lang="en-US"/>
            </a:p>
          </p:txBody>
        </p:sp>
        <p:sp>
          <p:nvSpPr>
            <p:cNvPr id="75" name="Text 73"/>
            <p:cNvSpPr/>
            <p:nvPr/>
          </p:nvSpPr>
          <p:spPr>
            <a:xfrm>
              <a:off x="5660136" y="3465576"/>
              <a:ext cx="344728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HR (CSR) — 10</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Finance (bank, market)</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Public Admin (product)</a:t>
              </a:r>
              <a:endParaRPr lang="en-US" sz="900" dirty="0"/>
            </a:p>
          </p:txBody>
        </p:sp>
        <p:sp>
          <p:nvSpPr>
            <p:cNvPr id="76" name="Shape 74"/>
            <p:cNvSpPr/>
            <p:nvPr/>
          </p:nvSpPr>
          <p:spPr>
            <a:xfrm>
              <a:off x="137160" y="3991356"/>
              <a:ext cx="1325880" cy="530352"/>
            </a:xfrm>
            <a:prstGeom prst="rect">
              <a:avLst/>
            </a:prstGeom>
            <a:solidFill>
              <a:srgbClr val="E0F2F7"/>
            </a:solidFill>
            <a:ln w="12700">
              <a:solidFill>
                <a:srgbClr val="CBD5E1"/>
              </a:solidFill>
              <a:prstDash val="solid"/>
            </a:ln>
          </p:spPr>
          <p:txBody>
            <a:bodyPr/>
            <a:lstStyle/>
            <a:p>
              <a:endParaRPr lang="en-US"/>
            </a:p>
          </p:txBody>
        </p:sp>
        <p:sp>
          <p:nvSpPr>
            <p:cNvPr id="77" name="Text 75"/>
            <p:cNvSpPr/>
            <p:nvPr/>
          </p:nvSpPr>
          <p:spPr>
            <a:xfrm>
              <a:off x="173736" y="4009644"/>
              <a:ext cx="1252728" cy="493776"/>
            </a:xfrm>
            <a:prstGeom prst="rect">
              <a:avLst/>
            </a:prstGeom>
            <a:noFill/>
            <a:ln/>
          </p:spPr>
          <p:txBody>
            <a:bodyPr wrap="square"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OMIS</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Prof. E. Dadzie</a:t>
              </a:r>
              <a:endParaRPr lang="en-US" sz="900" dirty="0"/>
            </a:p>
          </p:txBody>
        </p:sp>
        <p:sp>
          <p:nvSpPr>
            <p:cNvPr id="78" name="Shape 76"/>
            <p:cNvSpPr/>
            <p:nvPr/>
          </p:nvSpPr>
          <p:spPr>
            <a:xfrm>
              <a:off x="1481328" y="3991356"/>
              <a:ext cx="2011680" cy="530352"/>
            </a:xfrm>
            <a:prstGeom prst="rect">
              <a:avLst/>
            </a:prstGeom>
            <a:solidFill>
              <a:srgbClr val="E0F2F7"/>
            </a:solidFill>
            <a:ln w="12700">
              <a:solidFill>
                <a:srgbClr val="CBD5E1"/>
              </a:solidFill>
              <a:prstDash val="solid"/>
            </a:ln>
          </p:spPr>
          <p:txBody>
            <a:bodyPr/>
            <a:lstStyle/>
            <a:p>
              <a:endParaRPr lang="en-US"/>
            </a:p>
          </p:txBody>
        </p:sp>
        <p:sp>
          <p:nvSpPr>
            <p:cNvPr id="79" name="Text 77"/>
            <p:cNvSpPr/>
            <p:nvPr/>
          </p:nvSpPr>
          <p:spPr>
            <a:xfrm>
              <a:off x="1517904" y="4009644"/>
              <a:ext cx="19385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Renewable Energy</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Health Info Systems</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Open Gov Data</a:t>
              </a:r>
              <a:endParaRPr lang="en-US" sz="900" dirty="0"/>
            </a:p>
          </p:txBody>
        </p:sp>
        <p:sp>
          <p:nvSpPr>
            <p:cNvPr id="80" name="Shape 78"/>
            <p:cNvSpPr/>
            <p:nvPr/>
          </p:nvSpPr>
          <p:spPr>
            <a:xfrm>
              <a:off x="3511296" y="3991356"/>
              <a:ext cx="731520" cy="530352"/>
            </a:xfrm>
            <a:prstGeom prst="rect">
              <a:avLst/>
            </a:prstGeom>
            <a:solidFill>
              <a:srgbClr val="E0F2F7"/>
            </a:solidFill>
            <a:ln w="12700">
              <a:solidFill>
                <a:srgbClr val="CBD5E1"/>
              </a:solidFill>
              <a:prstDash val="solid"/>
            </a:ln>
          </p:spPr>
          <p:txBody>
            <a:bodyPr/>
            <a:lstStyle/>
            <a:p>
              <a:endParaRPr lang="en-US"/>
            </a:p>
          </p:txBody>
        </p:sp>
        <p:sp>
          <p:nvSpPr>
            <p:cNvPr id="81" name="Text 79"/>
            <p:cNvSpPr/>
            <p:nvPr/>
          </p:nvSpPr>
          <p:spPr>
            <a:xfrm>
              <a:off x="3547872" y="4009644"/>
              <a:ext cx="65836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Quant</a:t>
              </a:r>
              <a:endParaRPr lang="en-US" sz="900" dirty="0"/>
            </a:p>
          </p:txBody>
        </p:sp>
        <p:sp>
          <p:nvSpPr>
            <p:cNvPr id="82" name="Shape 80"/>
            <p:cNvSpPr/>
            <p:nvPr/>
          </p:nvSpPr>
          <p:spPr>
            <a:xfrm>
              <a:off x="4261104" y="3991356"/>
              <a:ext cx="685800" cy="530352"/>
            </a:xfrm>
            <a:prstGeom prst="rect">
              <a:avLst/>
            </a:prstGeom>
            <a:solidFill>
              <a:srgbClr val="E0F2F7"/>
            </a:solidFill>
            <a:ln w="12700">
              <a:solidFill>
                <a:srgbClr val="CBD5E1"/>
              </a:solidFill>
              <a:prstDash val="solid"/>
            </a:ln>
          </p:spPr>
          <p:txBody>
            <a:bodyPr/>
            <a:lstStyle/>
            <a:p>
              <a:endParaRPr lang="en-US"/>
            </a:p>
          </p:txBody>
        </p:sp>
        <p:sp>
          <p:nvSpPr>
            <p:cNvPr id="83" name="Text 81"/>
            <p:cNvSpPr/>
            <p:nvPr/>
          </p:nvSpPr>
          <p:spPr>
            <a:xfrm>
              <a:off x="4297680" y="4009644"/>
              <a:ext cx="61264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Applied</a:t>
              </a:r>
              <a:endParaRPr lang="en-US" sz="900" dirty="0"/>
            </a:p>
          </p:txBody>
        </p:sp>
        <p:sp>
          <p:nvSpPr>
            <p:cNvPr id="84" name="Shape 82"/>
            <p:cNvSpPr/>
            <p:nvPr/>
          </p:nvSpPr>
          <p:spPr>
            <a:xfrm>
              <a:off x="4965192" y="3991356"/>
              <a:ext cx="640080" cy="530352"/>
            </a:xfrm>
            <a:prstGeom prst="rect">
              <a:avLst/>
            </a:prstGeom>
            <a:solidFill>
              <a:srgbClr val="E0F2F7"/>
            </a:solidFill>
            <a:ln w="12700">
              <a:solidFill>
                <a:srgbClr val="CBD5E1"/>
              </a:solidFill>
              <a:prstDash val="solid"/>
            </a:ln>
          </p:spPr>
          <p:txBody>
            <a:bodyPr/>
            <a:lstStyle/>
            <a:p>
              <a:endParaRPr lang="en-US"/>
            </a:p>
          </p:txBody>
        </p:sp>
        <p:sp>
          <p:nvSpPr>
            <p:cNvPr id="85" name="Text 83"/>
            <p:cNvSpPr/>
            <p:nvPr/>
          </p:nvSpPr>
          <p:spPr>
            <a:xfrm>
              <a:off x="5001768" y="4009644"/>
              <a:ext cx="5669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8.6%</a:t>
              </a:r>
              <a:endParaRPr lang="en-US" sz="900" dirty="0"/>
            </a:p>
          </p:txBody>
        </p:sp>
        <p:sp>
          <p:nvSpPr>
            <p:cNvPr id="86" name="Shape 84"/>
            <p:cNvSpPr/>
            <p:nvPr/>
          </p:nvSpPr>
          <p:spPr>
            <a:xfrm>
              <a:off x="5623560" y="3991356"/>
              <a:ext cx="3520440" cy="530352"/>
            </a:xfrm>
            <a:prstGeom prst="rect">
              <a:avLst/>
            </a:prstGeom>
            <a:solidFill>
              <a:srgbClr val="E0F2F7"/>
            </a:solidFill>
            <a:ln w="12700">
              <a:solidFill>
                <a:srgbClr val="CBD5E1"/>
              </a:solidFill>
              <a:prstDash val="solid"/>
            </a:ln>
          </p:spPr>
          <p:txBody>
            <a:bodyPr/>
            <a:lstStyle/>
            <a:p>
              <a:endParaRPr lang="en-US"/>
            </a:p>
          </p:txBody>
        </p:sp>
        <p:sp>
          <p:nvSpPr>
            <p:cNvPr id="87" name="Text 85"/>
            <p:cNvSpPr/>
            <p:nvPr/>
          </p:nvSpPr>
          <p:spPr>
            <a:xfrm>
              <a:off x="5660136" y="4009644"/>
              <a:ext cx="344728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Finance (data, cost)</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Public Admin (energy) — 6</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HSM (health)</a:t>
              </a:r>
              <a:endParaRPr lang="en-US" sz="900" dirty="0"/>
            </a:p>
          </p:txBody>
        </p:sp>
        <p:sp>
          <p:nvSpPr>
            <p:cNvPr id="88" name="Shape 86"/>
            <p:cNvSpPr/>
            <p:nvPr/>
          </p:nvSpPr>
          <p:spPr>
            <a:xfrm>
              <a:off x="137160" y="4535424"/>
              <a:ext cx="1325880" cy="530352"/>
            </a:xfrm>
            <a:prstGeom prst="rect">
              <a:avLst/>
            </a:prstGeom>
            <a:solidFill>
              <a:srgbClr val="FFFFFF"/>
            </a:solidFill>
            <a:ln w="12700">
              <a:solidFill>
                <a:srgbClr val="CBD5E1"/>
              </a:solidFill>
              <a:prstDash val="solid"/>
            </a:ln>
          </p:spPr>
          <p:txBody>
            <a:bodyPr/>
            <a:lstStyle/>
            <a:p>
              <a:endParaRPr lang="en-US"/>
            </a:p>
          </p:txBody>
        </p:sp>
        <p:sp>
          <p:nvSpPr>
            <p:cNvPr id="89" name="Text 87"/>
            <p:cNvSpPr/>
            <p:nvPr/>
          </p:nvSpPr>
          <p:spPr>
            <a:xfrm>
              <a:off x="173736" y="4553712"/>
              <a:ext cx="1252728" cy="493776"/>
            </a:xfrm>
            <a:prstGeom prst="rect">
              <a:avLst/>
            </a:prstGeom>
            <a:noFill/>
            <a:ln/>
          </p:spPr>
          <p:txBody>
            <a:bodyPr wrap="square"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Public Admin</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Prof. A. Ahenkan</a:t>
              </a:r>
              <a:endParaRPr lang="en-US" sz="900" dirty="0"/>
            </a:p>
          </p:txBody>
        </p:sp>
        <p:sp>
          <p:nvSpPr>
            <p:cNvPr id="90" name="Shape 88"/>
            <p:cNvSpPr/>
            <p:nvPr/>
          </p:nvSpPr>
          <p:spPr>
            <a:xfrm>
              <a:off x="1481328" y="4535424"/>
              <a:ext cx="2011680" cy="530352"/>
            </a:xfrm>
            <a:prstGeom prst="rect">
              <a:avLst/>
            </a:prstGeom>
            <a:solidFill>
              <a:srgbClr val="FFFFFF"/>
            </a:solidFill>
            <a:ln w="12700">
              <a:solidFill>
                <a:srgbClr val="CBD5E1"/>
              </a:solidFill>
              <a:prstDash val="solid"/>
            </a:ln>
          </p:spPr>
          <p:txBody>
            <a:bodyPr/>
            <a:lstStyle/>
            <a:p>
              <a:endParaRPr lang="en-US"/>
            </a:p>
          </p:txBody>
        </p:sp>
        <p:sp>
          <p:nvSpPr>
            <p:cNvPr id="91" name="Text 89"/>
            <p:cNvSpPr/>
            <p:nvPr/>
          </p:nvSpPr>
          <p:spPr>
            <a:xfrm>
              <a:off x="1517904" y="4553712"/>
              <a:ext cx="19385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Renewable Energy</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Climate Change</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Performance Mgmt</a:t>
              </a:r>
              <a:endParaRPr lang="en-US" sz="900" dirty="0"/>
            </a:p>
          </p:txBody>
        </p:sp>
        <p:sp>
          <p:nvSpPr>
            <p:cNvPr id="92" name="Shape 90"/>
            <p:cNvSpPr/>
            <p:nvPr/>
          </p:nvSpPr>
          <p:spPr>
            <a:xfrm>
              <a:off x="3511296" y="4535424"/>
              <a:ext cx="731520" cy="530352"/>
            </a:xfrm>
            <a:prstGeom prst="rect">
              <a:avLst/>
            </a:prstGeom>
            <a:solidFill>
              <a:srgbClr val="FFFFFF"/>
            </a:solidFill>
            <a:ln w="12700">
              <a:solidFill>
                <a:srgbClr val="CBD5E1"/>
              </a:solidFill>
              <a:prstDash val="solid"/>
            </a:ln>
          </p:spPr>
          <p:txBody>
            <a:bodyPr/>
            <a:lstStyle/>
            <a:p>
              <a:endParaRPr lang="en-US"/>
            </a:p>
          </p:txBody>
        </p:sp>
        <p:sp>
          <p:nvSpPr>
            <p:cNvPr id="93" name="Text 91"/>
            <p:cNvSpPr/>
            <p:nvPr/>
          </p:nvSpPr>
          <p:spPr>
            <a:xfrm>
              <a:off x="3547872" y="4553712"/>
              <a:ext cx="65836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Quant</a:t>
              </a:r>
              <a:endParaRPr lang="en-US" sz="900" dirty="0"/>
            </a:p>
          </p:txBody>
        </p:sp>
        <p:sp>
          <p:nvSpPr>
            <p:cNvPr id="94" name="Shape 92"/>
            <p:cNvSpPr/>
            <p:nvPr/>
          </p:nvSpPr>
          <p:spPr>
            <a:xfrm>
              <a:off x="4261104" y="4535424"/>
              <a:ext cx="685800" cy="530352"/>
            </a:xfrm>
            <a:prstGeom prst="rect">
              <a:avLst/>
            </a:prstGeom>
            <a:solidFill>
              <a:srgbClr val="FFFFFF"/>
            </a:solidFill>
            <a:ln w="12700">
              <a:solidFill>
                <a:srgbClr val="CBD5E1"/>
              </a:solidFill>
              <a:prstDash val="solid"/>
            </a:ln>
          </p:spPr>
          <p:txBody>
            <a:bodyPr/>
            <a:lstStyle/>
            <a:p>
              <a:endParaRPr lang="en-US"/>
            </a:p>
          </p:txBody>
        </p:sp>
        <p:sp>
          <p:nvSpPr>
            <p:cNvPr id="95" name="Text 93"/>
            <p:cNvSpPr/>
            <p:nvPr/>
          </p:nvSpPr>
          <p:spPr>
            <a:xfrm>
              <a:off x="4297680" y="4553712"/>
              <a:ext cx="61264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Applied</a:t>
              </a:r>
              <a:endParaRPr lang="en-US" sz="900" dirty="0"/>
            </a:p>
          </p:txBody>
        </p:sp>
        <p:sp>
          <p:nvSpPr>
            <p:cNvPr id="96" name="Shape 94"/>
            <p:cNvSpPr/>
            <p:nvPr/>
          </p:nvSpPr>
          <p:spPr>
            <a:xfrm>
              <a:off x="4965192" y="4535424"/>
              <a:ext cx="640080" cy="530352"/>
            </a:xfrm>
            <a:prstGeom prst="rect">
              <a:avLst/>
            </a:prstGeom>
            <a:solidFill>
              <a:srgbClr val="FFFFFF"/>
            </a:solidFill>
            <a:ln w="12700">
              <a:solidFill>
                <a:srgbClr val="CBD5E1"/>
              </a:solidFill>
              <a:prstDash val="solid"/>
            </a:ln>
          </p:spPr>
          <p:txBody>
            <a:bodyPr/>
            <a:lstStyle/>
            <a:p>
              <a:endParaRPr lang="en-US"/>
            </a:p>
          </p:txBody>
        </p:sp>
        <p:sp>
          <p:nvSpPr>
            <p:cNvPr id="97" name="Text 95"/>
            <p:cNvSpPr/>
            <p:nvPr/>
          </p:nvSpPr>
          <p:spPr>
            <a:xfrm>
              <a:off x="5001768" y="4553712"/>
              <a:ext cx="56692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44.2%</a:t>
              </a:r>
              <a:endParaRPr lang="en-US" sz="900" dirty="0"/>
            </a:p>
          </p:txBody>
        </p:sp>
        <p:sp>
          <p:nvSpPr>
            <p:cNvPr id="98" name="Shape 96"/>
            <p:cNvSpPr/>
            <p:nvPr/>
          </p:nvSpPr>
          <p:spPr>
            <a:xfrm>
              <a:off x="5623560" y="4535424"/>
              <a:ext cx="3520440" cy="530352"/>
            </a:xfrm>
            <a:prstGeom prst="rect">
              <a:avLst/>
            </a:prstGeom>
            <a:solidFill>
              <a:srgbClr val="FFFFFF"/>
            </a:solidFill>
            <a:ln w="12700">
              <a:solidFill>
                <a:srgbClr val="CBD5E1"/>
              </a:solidFill>
              <a:prstDash val="solid"/>
            </a:ln>
          </p:spPr>
          <p:txBody>
            <a:bodyPr/>
            <a:lstStyle/>
            <a:p>
              <a:endParaRPr lang="en-US"/>
            </a:p>
          </p:txBody>
        </p:sp>
        <p:sp>
          <p:nvSpPr>
            <p:cNvPr id="99" name="Text 97"/>
            <p:cNvSpPr/>
            <p:nvPr/>
          </p:nvSpPr>
          <p:spPr>
            <a:xfrm>
              <a:off x="5660136" y="4553712"/>
              <a:ext cx="3447288" cy="493776"/>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Finance (economic) — 8</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HR (mgmt) — 7</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OMIS (energy) — 6</a:t>
              </a:r>
              <a:endParaRPr lang="en-US" sz="900"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13 · Key Findings &amp; Conclusions</a:t>
            </a:r>
            <a:endParaRPr lang="en-US" sz="2400" dirty="0"/>
          </a:p>
        </p:txBody>
      </p:sp>
      <p:sp>
        <p:nvSpPr>
          <p:cNvPr id="4" name="Shape 2"/>
          <p:cNvSpPr/>
          <p:nvPr/>
        </p:nvSpPr>
        <p:spPr>
          <a:xfrm>
            <a:off x="182880" y="914400"/>
            <a:ext cx="4297680" cy="12344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5" name="Shape 3"/>
          <p:cNvSpPr/>
          <p:nvPr/>
        </p:nvSpPr>
        <p:spPr>
          <a:xfrm>
            <a:off x="182880" y="914400"/>
            <a:ext cx="91440" cy="1234440"/>
          </a:xfrm>
          <a:prstGeom prst="rect">
            <a:avLst/>
          </a:prstGeom>
          <a:solidFill>
            <a:srgbClr val="028090"/>
          </a:solidFill>
          <a:ln w="12700">
            <a:solidFill>
              <a:srgbClr val="028090"/>
            </a:solidFill>
            <a:prstDash val="solid"/>
          </a:ln>
        </p:spPr>
        <p:txBody>
          <a:bodyPr/>
          <a:lstStyle/>
          <a:p>
            <a:endParaRPr lang="en-US"/>
          </a:p>
        </p:txBody>
      </p:sp>
      <p:sp>
        <p:nvSpPr>
          <p:cNvPr id="6" name="Shape 4"/>
          <p:cNvSpPr/>
          <p:nvPr/>
        </p:nvSpPr>
        <p:spPr>
          <a:xfrm>
            <a:off x="347472" y="1097280"/>
            <a:ext cx="594360" cy="594360"/>
          </a:xfrm>
          <a:prstGeom prst="ellipse">
            <a:avLst/>
          </a:prstGeom>
          <a:solidFill>
            <a:srgbClr val="028090">
              <a:alpha val="20000"/>
            </a:srgbClr>
          </a:solidFill>
          <a:ln w="12700">
            <a:solidFill>
              <a:srgbClr val="028090">
                <a:alpha val="40000"/>
              </a:srgbClr>
            </a:solidFill>
            <a:prstDash val="solid"/>
          </a:ln>
        </p:spPr>
        <p:txBody>
          <a:bodyPr/>
          <a:lstStyle/>
          <a:p>
            <a:endParaRPr lang="en-US"/>
          </a:p>
        </p:txBody>
      </p:sp>
      <p:sp>
        <p:nvSpPr>
          <p:cNvPr id="7" name="Text 5"/>
          <p:cNvSpPr/>
          <p:nvPr/>
        </p:nvSpPr>
        <p:spPr>
          <a:xfrm>
            <a:off x="347472" y="109728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1051560" y="1005840"/>
            <a:ext cx="3291840" cy="347472"/>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T5/BART is the Superior NLP Model</a:t>
            </a:r>
            <a:endParaRPr lang="en-US" sz="1150" dirty="0"/>
          </a:p>
        </p:txBody>
      </p:sp>
      <p:sp>
        <p:nvSpPr>
          <p:cNvPr id="9" name="Text 7"/>
          <p:cNvSpPr/>
          <p:nvPr/>
        </p:nvSpPr>
        <p:spPr>
          <a:xfrm>
            <a:off x="1051560" y="1371600"/>
            <a:ext cx="3291840" cy="68580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Averaging 25–37% keyword overlap vs &lt;8% for LDA and BERTopic. Abstractive summarisation captures meaning — not just keywords.</a:t>
            </a:r>
            <a:endParaRPr lang="en-US" sz="1050" dirty="0"/>
          </a:p>
        </p:txBody>
      </p:sp>
      <p:sp>
        <p:nvSpPr>
          <p:cNvPr id="10" name="Shape 8"/>
          <p:cNvSpPr/>
          <p:nvPr/>
        </p:nvSpPr>
        <p:spPr>
          <a:xfrm>
            <a:off x="182880" y="2286000"/>
            <a:ext cx="4297680" cy="12344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1" name="Shape 9"/>
          <p:cNvSpPr/>
          <p:nvPr/>
        </p:nvSpPr>
        <p:spPr>
          <a:xfrm>
            <a:off x="182880" y="2286000"/>
            <a:ext cx="91440" cy="1234440"/>
          </a:xfrm>
          <a:prstGeom prst="rect">
            <a:avLst/>
          </a:prstGeom>
          <a:solidFill>
            <a:srgbClr val="00A896"/>
          </a:solidFill>
          <a:ln w="12700">
            <a:solidFill>
              <a:srgbClr val="00A896"/>
            </a:solidFill>
            <a:prstDash val="solid"/>
          </a:ln>
        </p:spPr>
        <p:txBody>
          <a:bodyPr/>
          <a:lstStyle/>
          <a:p>
            <a:endParaRPr lang="en-US"/>
          </a:p>
        </p:txBody>
      </p:sp>
      <p:sp>
        <p:nvSpPr>
          <p:cNvPr id="12" name="Shape 10"/>
          <p:cNvSpPr/>
          <p:nvPr/>
        </p:nvSpPr>
        <p:spPr>
          <a:xfrm>
            <a:off x="347472" y="2468880"/>
            <a:ext cx="594360" cy="594360"/>
          </a:xfrm>
          <a:prstGeom prst="ellipse">
            <a:avLst/>
          </a:prstGeom>
          <a:solidFill>
            <a:srgbClr val="00A896">
              <a:alpha val="20000"/>
            </a:srgbClr>
          </a:solidFill>
          <a:ln w="12700">
            <a:solidFill>
              <a:srgbClr val="00A896">
                <a:alpha val="40000"/>
              </a:srgbClr>
            </a:solidFill>
            <a:prstDash val="solid"/>
          </a:ln>
        </p:spPr>
        <p:txBody>
          <a:bodyPr/>
          <a:lstStyle/>
          <a:p>
            <a:endParaRPr lang="en-US"/>
          </a:p>
        </p:txBody>
      </p:sp>
      <p:sp>
        <p:nvSpPr>
          <p:cNvPr id="13" name="Text 11"/>
          <p:cNvSpPr/>
          <p:nvPr/>
        </p:nvSpPr>
        <p:spPr>
          <a:xfrm>
            <a:off x="347472" y="246888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1051560" y="2377440"/>
            <a:ext cx="3291840" cy="347472"/>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Ghana Context is the Unifying Thread</a:t>
            </a:r>
            <a:endParaRPr lang="en-US" sz="1150" dirty="0"/>
          </a:p>
        </p:txBody>
      </p:sp>
      <p:sp>
        <p:nvSpPr>
          <p:cNvPr id="15" name="Text 13"/>
          <p:cNvSpPr/>
          <p:nvPr/>
        </p:nvSpPr>
        <p:spPr>
          <a:xfrm>
            <a:off x="1051560" y="2743200"/>
            <a:ext cx="3291840" cy="68580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'Ghana' appears in all 7 HODs' top keywords. Research is firmly grounded in Ghana's national development context.</a:t>
            </a:r>
            <a:endParaRPr lang="en-US" sz="1050" dirty="0"/>
          </a:p>
        </p:txBody>
      </p:sp>
      <p:sp>
        <p:nvSpPr>
          <p:cNvPr id="16" name="Shape 14"/>
          <p:cNvSpPr/>
          <p:nvPr/>
        </p:nvSpPr>
        <p:spPr>
          <a:xfrm>
            <a:off x="182880" y="3657600"/>
            <a:ext cx="4297680" cy="12344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7" name="Shape 15"/>
          <p:cNvSpPr/>
          <p:nvPr/>
        </p:nvSpPr>
        <p:spPr>
          <a:xfrm>
            <a:off x="182880" y="3657600"/>
            <a:ext cx="91440" cy="1234440"/>
          </a:xfrm>
          <a:prstGeom prst="rect">
            <a:avLst/>
          </a:prstGeom>
          <a:solidFill>
            <a:srgbClr val="4A90D9"/>
          </a:solidFill>
          <a:ln w="12700">
            <a:solidFill>
              <a:srgbClr val="4A90D9"/>
            </a:solidFill>
            <a:prstDash val="solid"/>
          </a:ln>
        </p:spPr>
        <p:txBody>
          <a:bodyPr/>
          <a:lstStyle/>
          <a:p>
            <a:endParaRPr lang="en-US"/>
          </a:p>
        </p:txBody>
      </p:sp>
      <p:sp>
        <p:nvSpPr>
          <p:cNvPr id="18" name="Shape 16"/>
          <p:cNvSpPr/>
          <p:nvPr/>
        </p:nvSpPr>
        <p:spPr>
          <a:xfrm>
            <a:off x="347472" y="3840480"/>
            <a:ext cx="594360" cy="594360"/>
          </a:xfrm>
          <a:prstGeom prst="ellipse">
            <a:avLst/>
          </a:prstGeom>
          <a:solidFill>
            <a:srgbClr val="4A90D9">
              <a:alpha val="20000"/>
            </a:srgbClr>
          </a:solidFill>
          <a:ln w="12700">
            <a:solidFill>
              <a:srgbClr val="4A90D9">
                <a:alpha val="40000"/>
              </a:srgbClr>
            </a:solidFill>
            <a:prstDash val="solid"/>
          </a:ln>
        </p:spPr>
        <p:txBody>
          <a:bodyPr/>
          <a:lstStyle/>
          <a:p>
            <a:endParaRPr lang="en-US"/>
          </a:p>
        </p:txBody>
      </p:sp>
      <p:sp>
        <p:nvSpPr>
          <p:cNvPr id="19" name="Text 17"/>
          <p:cNvSpPr/>
          <p:nvPr/>
        </p:nvSpPr>
        <p:spPr>
          <a:xfrm>
            <a:off x="347472" y="384048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1051560" y="3749040"/>
            <a:ext cx="3291840" cy="347472"/>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Quantitative-Applied Dominance</a:t>
            </a:r>
            <a:endParaRPr lang="en-US" sz="1150" dirty="0"/>
          </a:p>
        </p:txBody>
      </p:sp>
      <p:sp>
        <p:nvSpPr>
          <p:cNvPr id="21" name="Text 19"/>
          <p:cNvSpPr/>
          <p:nvPr/>
        </p:nvSpPr>
        <p:spPr>
          <a:xfrm>
            <a:off x="1051560" y="4114800"/>
            <a:ext cx="3291840" cy="68580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All HODs predominantly use quantitative methods (43–53%) and are applied-oriented — focused on solving real business and policy problems.</a:t>
            </a:r>
            <a:endParaRPr lang="en-US" sz="1050" dirty="0"/>
          </a:p>
        </p:txBody>
      </p:sp>
      <p:sp>
        <p:nvSpPr>
          <p:cNvPr id="22" name="Shape 20"/>
          <p:cNvSpPr/>
          <p:nvPr/>
        </p:nvSpPr>
        <p:spPr>
          <a:xfrm>
            <a:off x="4663440" y="914400"/>
            <a:ext cx="4297680" cy="12344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23" name="Shape 21"/>
          <p:cNvSpPr/>
          <p:nvPr/>
        </p:nvSpPr>
        <p:spPr>
          <a:xfrm>
            <a:off x="4663440" y="914400"/>
            <a:ext cx="91440" cy="1234440"/>
          </a:xfrm>
          <a:prstGeom prst="rect">
            <a:avLst/>
          </a:prstGeom>
          <a:solidFill>
            <a:srgbClr val="7C3AED"/>
          </a:solidFill>
          <a:ln w="12700">
            <a:solidFill>
              <a:srgbClr val="7C3AED"/>
            </a:solidFill>
            <a:prstDash val="solid"/>
          </a:ln>
        </p:spPr>
        <p:txBody>
          <a:bodyPr/>
          <a:lstStyle/>
          <a:p>
            <a:endParaRPr lang="en-US"/>
          </a:p>
        </p:txBody>
      </p:sp>
      <p:sp>
        <p:nvSpPr>
          <p:cNvPr id="24" name="Shape 22"/>
          <p:cNvSpPr/>
          <p:nvPr/>
        </p:nvSpPr>
        <p:spPr>
          <a:xfrm>
            <a:off x="4828032" y="1097280"/>
            <a:ext cx="594360" cy="594360"/>
          </a:xfrm>
          <a:prstGeom prst="ellipse">
            <a:avLst/>
          </a:prstGeom>
          <a:solidFill>
            <a:srgbClr val="7C3AED">
              <a:alpha val="20000"/>
            </a:srgbClr>
          </a:solidFill>
          <a:ln w="12700">
            <a:solidFill>
              <a:srgbClr val="7C3AED">
                <a:alpha val="40000"/>
              </a:srgbClr>
            </a:solidFill>
            <a:prstDash val="solid"/>
          </a:ln>
        </p:spPr>
        <p:txBody>
          <a:bodyPr/>
          <a:lstStyle/>
          <a:p>
            <a:endParaRPr lang="en-US"/>
          </a:p>
        </p:txBody>
      </p:sp>
      <p:sp>
        <p:nvSpPr>
          <p:cNvPr id="25" name="Text 23"/>
          <p:cNvSpPr/>
          <p:nvPr/>
        </p:nvSpPr>
        <p:spPr>
          <a:xfrm>
            <a:off x="4828032" y="109728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6" name="Text 24"/>
          <p:cNvSpPr/>
          <p:nvPr/>
        </p:nvSpPr>
        <p:spPr>
          <a:xfrm>
            <a:off x="5532120" y="1005840"/>
            <a:ext cx="3291840" cy="347472"/>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HR &amp; Marketing: Strongest Collaboration Link</a:t>
            </a:r>
            <a:endParaRPr lang="en-US" sz="1150" dirty="0"/>
          </a:p>
        </p:txBody>
      </p:sp>
      <p:sp>
        <p:nvSpPr>
          <p:cNvPr id="27" name="Text 25"/>
          <p:cNvSpPr/>
          <p:nvPr/>
        </p:nvSpPr>
        <p:spPr>
          <a:xfrm>
            <a:off x="5532120" y="1371600"/>
            <a:ext cx="3291840" cy="68580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The highest cross-HOD overlap (score=10) on CSR, export, and business themes — an ideal pair for joint research initiatives.</a:t>
            </a:r>
            <a:endParaRPr lang="en-US" sz="1050" dirty="0"/>
          </a:p>
        </p:txBody>
      </p:sp>
      <p:sp>
        <p:nvSpPr>
          <p:cNvPr id="28" name="Shape 26"/>
          <p:cNvSpPr/>
          <p:nvPr/>
        </p:nvSpPr>
        <p:spPr>
          <a:xfrm>
            <a:off x="4663440" y="2286000"/>
            <a:ext cx="4297680" cy="12344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29" name="Shape 27"/>
          <p:cNvSpPr/>
          <p:nvPr/>
        </p:nvSpPr>
        <p:spPr>
          <a:xfrm>
            <a:off x="4663440" y="2286000"/>
            <a:ext cx="91440" cy="1234440"/>
          </a:xfrm>
          <a:prstGeom prst="rect">
            <a:avLst/>
          </a:prstGeom>
          <a:solidFill>
            <a:srgbClr val="02C39A"/>
          </a:solidFill>
          <a:ln w="12700">
            <a:solidFill>
              <a:srgbClr val="02C39A"/>
            </a:solidFill>
            <a:prstDash val="solid"/>
          </a:ln>
        </p:spPr>
        <p:txBody>
          <a:bodyPr/>
          <a:lstStyle/>
          <a:p>
            <a:endParaRPr lang="en-US"/>
          </a:p>
        </p:txBody>
      </p:sp>
      <p:sp>
        <p:nvSpPr>
          <p:cNvPr id="30" name="Shape 28"/>
          <p:cNvSpPr/>
          <p:nvPr/>
        </p:nvSpPr>
        <p:spPr>
          <a:xfrm>
            <a:off x="4828032" y="2468880"/>
            <a:ext cx="594360" cy="594360"/>
          </a:xfrm>
          <a:prstGeom prst="ellipse">
            <a:avLst/>
          </a:prstGeom>
          <a:solidFill>
            <a:srgbClr val="02C39A">
              <a:alpha val="20000"/>
            </a:srgbClr>
          </a:solidFill>
          <a:ln w="12700">
            <a:solidFill>
              <a:srgbClr val="02C39A">
                <a:alpha val="40000"/>
              </a:srgbClr>
            </a:solidFill>
            <a:prstDash val="solid"/>
          </a:ln>
        </p:spPr>
        <p:txBody>
          <a:bodyPr/>
          <a:lstStyle/>
          <a:p>
            <a:endParaRPr lang="en-US"/>
          </a:p>
        </p:txBody>
      </p:sp>
      <p:sp>
        <p:nvSpPr>
          <p:cNvPr id="31" name="Text 29"/>
          <p:cNvSpPr/>
          <p:nvPr/>
        </p:nvSpPr>
        <p:spPr>
          <a:xfrm>
            <a:off x="4828032" y="246888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2" name="Text 30"/>
          <p:cNvSpPr/>
          <p:nvPr/>
        </p:nvSpPr>
        <p:spPr>
          <a:xfrm>
            <a:off x="5532120" y="2377440"/>
            <a:ext cx="3291840" cy="347472"/>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Sustainability &amp; Digital Economy Emerging</a:t>
            </a:r>
            <a:endParaRPr lang="en-US" sz="1150" dirty="0"/>
          </a:p>
        </p:txBody>
      </p:sp>
      <p:sp>
        <p:nvSpPr>
          <p:cNvPr id="33" name="Text 31"/>
          <p:cNvSpPr/>
          <p:nvPr/>
        </p:nvSpPr>
        <p:spPr>
          <a:xfrm>
            <a:off x="5532120" y="2743200"/>
            <a:ext cx="3291840" cy="68580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Climate change, renewable energy, digital transformation, and machine learning appear across 5–6 of 7 HODs' recent papers.</a:t>
            </a:r>
            <a:endParaRPr lang="en-US" sz="1050" dirty="0"/>
          </a:p>
        </p:txBody>
      </p:sp>
      <p:sp>
        <p:nvSpPr>
          <p:cNvPr id="34" name="Shape 32"/>
          <p:cNvSpPr/>
          <p:nvPr/>
        </p:nvSpPr>
        <p:spPr>
          <a:xfrm>
            <a:off x="4663440" y="3657600"/>
            <a:ext cx="4297680" cy="123444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35" name="Shape 33"/>
          <p:cNvSpPr/>
          <p:nvPr/>
        </p:nvSpPr>
        <p:spPr>
          <a:xfrm>
            <a:off x="4663440" y="3657600"/>
            <a:ext cx="91440" cy="1234440"/>
          </a:xfrm>
          <a:prstGeom prst="rect">
            <a:avLst/>
          </a:prstGeom>
          <a:solidFill>
            <a:srgbClr val="F59E0B"/>
          </a:solidFill>
          <a:ln w="12700">
            <a:solidFill>
              <a:srgbClr val="F59E0B"/>
            </a:solidFill>
            <a:prstDash val="solid"/>
          </a:ln>
        </p:spPr>
        <p:txBody>
          <a:bodyPr/>
          <a:lstStyle/>
          <a:p>
            <a:endParaRPr lang="en-US"/>
          </a:p>
        </p:txBody>
      </p:sp>
      <p:sp>
        <p:nvSpPr>
          <p:cNvPr id="36" name="Shape 34"/>
          <p:cNvSpPr/>
          <p:nvPr/>
        </p:nvSpPr>
        <p:spPr>
          <a:xfrm>
            <a:off x="4828032" y="3840480"/>
            <a:ext cx="594360" cy="594360"/>
          </a:xfrm>
          <a:prstGeom prst="ellipse">
            <a:avLst/>
          </a:prstGeom>
          <a:solidFill>
            <a:srgbClr val="F59E0B">
              <a:alpha val="20000"/>
            </a:srgbClr>
          </a:solidFill>
          <a:ln w="12700">
            <a:solidFill>
              <a:srgbClr val="F59E0B">
                <a:alpha val="40000"/>
              </a:srgbClr>
            </a:solidFill>
            <a:prstDash val="solid"/>
          </a:ln>
        </p:spPr>
        <p:txBody>
          <a:bodyPr/>
          <a:lstStyle/>
          <a:p>
            <a:endParaRPr lang="en-US"/>
          </a:p>
        </p:txBody>
      </p:sp>
      <p:sp>
        <p:nvSpPr>
          <p:cNvPr id="37" name="Text 35"/>
          <p:cNvSpPr/>
          <p:nvPr/>
        </p:nvSpPr>
        <p:spPr>
          <a:xfrm>
            <a:off x="4828032" y="384048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8" name="Text 36"/>
          <p:cNvSpPr/>
          <p:nvPr/>
        </p:nvSpPr>
        <p:spPr>
          <a:xfrm>
            <a:off x="5532120" y="3749040"/>
            <a:ext cx="3291840" cy="347472"/>
          </a:xfrm>
          <a:prstGeom prst="rect">
            <a:avLst/>
          </a:prstGeom>
          <a:noFill/>
          <a:ln/>
        </p:spPr>
        <p:txBody>
          <a:bodyPr wrap="square" rtlCol="0" anchor="ctr"/>
          <a:lstStyle/>
          <a:p>
            <a:pPr marL="0" indent="0">
              <a:buNone/>
            </a:pPr>
            <a:r>
              <a:rPr lang="en-US" sz="1150" b="1" dirty="0">
                <a:solidFill>
                  <a:srgbClr val="1B3A6B"/>
                </a:solidFill>
                <a:latin typeface="Trebuchet MS" pitchFamily="34" charset="0"/>
                <a:ea typeface="Trebuchet MS" pitchFamily="34" charset="-122"/>
                <a:cs typeface="Trebuchet MS" pitchFamily="34" charset="-120"/>
              </a:rPr>
              <a:t>OMIS–Public Admin Energy Nexus</a:t>
            </a:r>
            <a:endParaRPr lang="en-US" sz="1150" dirty="0"/>
          </a:p>
        </p:txBody>
      </p:sp>
      <p:sp>
        <p:nvSpPr>
          <p:cNvPr id="39" name="Text 37"/>
          <p:cNvSpPr/>
          <p:nvPr/>
        </p:nvSpPr>
        <p:spPr>
          <a:xfrm>
            <a:off x="5532120" y="4114800"/>
            <a:ext cx="3291840" cy="68580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Both HODs publish on renewable energy, government policy, and energy systems — strong basis for interdisciplinary infrastructure research.</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164592" y="4892040"/>
            <a:ext cx="8979408" cy="251460"/>
          </a:xfrm>
          <a:prstGeom prst="rect">
            <a:avLst/>
          </a:prstGeom>
          <a:solidFill>
            <a:srgbClr val="028090"/>
          </a:solidFill>
          <a:ln w="12700">
            <a:solidFill>
              <a:srgbClr val="028090"/>
            </a:solidFill>
            <a:prstDash val="solid"/>
          </a:ln>
        </p:spPr>
        <p:txBody>
          <a:bodyPr/>
          <a:lstStyle/>
          <a:p>
            <a:endParaRPr lang="en-US"/>
          </a:p>
        </p:txBody>
      </p:sp>
      <p:sp>
        <p:nvSpPr>
          <p:cNvPr id="4" name="Shape 2"/>
          <p:cNvSpPr/>
          <p:nvPr/>
        </p:nvSpPr>
        <p:spPr>
          <a:xfrm>
            <a:off x="6400800" y="2926080"/>
            <a:ext cx="3200400" cy="3200400"/>
          </a:xfrm>
          <a:prstGeom prst="ellipse">
            <a:avLst/>
          </a:prstGeom>
          <a:solidFill>
            <a:srgbClr val="00A896">
              <a:alpha val="12000"/>
            </a:srgbClr>
          </a:solidFill>
          <a:ln w="12700">
            <a:solidFill>
              <a:srgbClr val="00A896">
                <a:alpha val="12000"/>
              </a:srgbClr>
            </a:solidFill>
            <a:prstDash val="solid"/>
          </a:ln>
        </p:spPr>
        <p:txBody>
          <a:bodyPr/>
          <a:lstStyle/>
          <a:p>
            <a:endParaRPr lang="en-US"/>
          </a:p>
        </p:txBody>
      </p:sp>
      <p:sp>
        <p:nvSpPr>
          <p:cNvPr id="5" name="Shape 3"/>
          <p:cNvSpPr/>
          <p:nvPr/>
        </p:nvSpPr>
        <p:spPr>
          <a:xfrm>
            <a:off x="5943600" y="-457200"/>
            <a:ext cx="2286000" cy="2286000"/>
          </a:xfrm>
          <a:prstGeom prst="ellipse">
            <a:avLst/>
          </a:prstGeom>
          <a:solidFill>
            <a:srgbClr val="028090">
              <a:alpha val="15000"/>
            </a:srgbClr>
          </a:solidFill>
          <a:ln w="12700">
            <a:solidFill>
              <a:srgbClr val="028090">
                <a:alpha val="15000"/>
              </a:srgbClr>
            </a:solidFill>
            <a:prstDash val="solid"/>
          </a:ln>
        </p:spPr>
        <p:txBody>
          <a:bodyPr/>
          <a:lstStyle/>
          <a:p>
            <a:endParaRPr lang="en-US"/>
          </a:p>
        </p:txBody>
      </p:sp>
      <p:sp>
        <p:nvSpPr>
          <p:cNvPr id="6" name="Text 4"/>
          <p:cNvSpPr/>
          <p:nvPr/>
        </p:nvSpPr>
        <p:spPr>
          <a:xfrm>
            <a:off x="411480" y="457200"/>
            <a:ext cx="7315200" cy="822960"/>
          </a:xfrm>
          <a:prstGeom prst="rect">
            <a:avLst/>
          </a:prstGeom>
          <a:noFill/>
          <a:ln/>
        </p:spPr>
        <p:txBody>
          <a:bodyPr wrap="square" rtlCol="0" anchor="ctr"/>
          <a:lstStyle/>
          <a:p>
            <a:pPr marL="0" indent="0">
              <a:buNone/>
            </a:pPr>
            <a:r>
              <a:rPr lang="en-US" sz="1300" b="1" kern="0" spc="800" dirty="0">
                <a:solidFill>
                  <a:srgbClr val="028090"/>
                </a:solidFill>
                <a:latin typeface="Trebuchet MS" pitchFamily="34" charset="0"/>
                <a:ea typeface="Trebuchet MS" pitchFamily="34" charset="-122"/>
                <a:cs typeface="Trebuchet MS" pitchFamily="34" charset="-120"/>
              </a:rPr>
              <a:t>UGBS</a:t>
            </a:r>
            <a:endParaRPr lang="en-US" sz="1300" dirty="0"/>
          </a:p>
        </p:txBody>
      </p:sp>
      <p:sp>
        <p:nvSpPr>
          <p:cNvPr id="7" name="Text 5"/>
          <p:cNvSpPr/>
          <p:nvPr/>
        </p:nvSpPr>
        <p:spPr>
          <a:xfrm>
            <a:off x="411480" y="1188720"/>
            <a:ext cx="6858000" cy="1097280"/>
          </a:xfrm>
          <a:prstGeom prst="rect">
            <a:avLst/>
          </a:prstGeom>
          <a:noFill/>
          <a:ln/>
        </p:spPr>
        <p:txBody>
          <a:bodyPr wrap="square"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University of Ghana</a:t>
            </a:r>
            <a:endParaRPr lang="en-US" sz="3600" dirty="0"/>
          </a:p>
          <a:p>
            <a:pPr marL="0" indent="0">
              <a:buNone/>
            </a:pPr>
            <a:r>
              <a:rPr lang="en-US" sz="3600" b="1" dirty="0">
                <a:solidFill>
                  <a:srgbClr val="FFFFFF"/>
                </a:solidFill>
                <a:latin typeface="Trebuchet MS" pitchFamily="34" charset="0"/>
                <a:ea typeface="Trebuchet MS" pitchFamily="34" charset="-122"/>
                <a:cs typeface="Trebuchet MS" pitchFamily="34" charset="-120"/>
              </a:rPr>
              <a:t>Business School</a:t>
            </a:r>
            <a:endParaRPr lang="en-US" sz="3600" dirty="0"/>
          </a:p>
        </p:txBody>
      </p:sp>
      <p:sp>
        <p:nvSpPr>
          <p:cNvPr id="8" name="Shape 6"/>
          <p:cNvSpPr/>
          <p:nvPr/>
        </p:nvSpPr>
        <p:spPr>
          <a:xfrm>
            <a:off x="411480" y="2423160"/>
            <a:ext cx="3657600" cy="0"/>
          </a:xfrm>
          <a:prstGeom prst="line">
            <a:avLst/>
          </a:prstGeom>
          <a:noFill/>
          <a:ln w="38100">
            <a:solidFill>
              <a:srgbClr val="028090"/>
            </a:solidFill>
            <a:prstDash val="solid"/>
          </a:ln>
        </p:spPr>
        <p:txBody>
          <a:bodyPr/>
          <a:lstStyle/>
          <a:p>
            <a:endParaRPr lang="en-US"/>
          </a:p>
        </p:txBody>
      </p:sp>
      <p:sp>
        <p:nvSpPr>
          <p:cNvPr id="9" name="Text 7"/>
          <p:cNvSpPr/>
          <p:nvPr/>
        </p:nvSpPr>
        <p:spPr>
          <a:xfrm>
            <a:off x="411480" y="2606040"/>
            <a:ext cx="7315200" cy="457200"/>
          </a:xfrm>
          <a:prstGeom prst="rect">
            <a:avLst/>
          </a:prstGeom>
          <a:noFill/>
          <a:ln/>
        </p:spPr>
        <p:txBody>
          <a:bodyPr wrap="square" rtlCol="0" anchor="ctr"/>
          <a:lstStyle/>
          <a:p>
            <a:pPr marL="0" indent="0">
              <a:buNone/>
            </a:pPr>
            <a:r>
              <a:rPr lang="en-US" sz="1600" dirty="0">
                <a:solidFill>
                  <a:srgbClr val="A8D8E8"/>
                </a:solidFill>
                <a:latin typeface="Calibri" pitchFamily="34" charset="0"/>
                <a:ea typeface="Calibri" pitchFamily="34" charset="-122"/>
                <a:cs typeface="Calibri" pitchFamily="34" charset="-120"/>
              </a:rPr>
              <a:t>NLP Summarisation &amp; Research Analysis</a:t>
            </a:r>
            <a:endParaRPr lang="en-US" sz="1600" dirty="0"/>
          </a:p>
        </p:txBody>
      </p:sp>
      <p:sp>
        <p:nvSpPr>
          <p:cNvPr id="10" name="Text 8"/>
          <p:cNvSpPr/>
          <p:nvPr/>
        </p:nvSpPr>
        <p:spPr>
          <a:xfrm>
            <a:off x="411480" y="3108960"/>
            <a:ext cx="7315200" cy="365760"/>
          </a:xfrm>
          <a:prstGeom prst="rect">
            <a:avLst/>
          </a:prstGeom>
          <a:noFill/>
          <a:ln/>
        </p:spPr>
        <p:txBody>
          <a:bodyPr wrap="square" rtlCol="0" anchor="ctr"/>
          <a:lstStyle/>
          <a:p>
            <a:pPr marL="0" indent="0">
              <a:buNone/>
            </a:pPr>
            <a:r>
              <a:rPr lang="en-US" sz="1200" dirty="0">
                <a:solidFill>
                  <a:srgbClr val="7ABFCC"/>
                </a:solidFill>
                <a:latin typeface="Calibri" pitchFamily="34" charset="0"/>
                <a:ea typeface="Calibri" pitchFamily="34" charset="-122"/>
                <a:cs typeface="Calibri" pitchFamily="34" charset="-120"/>
              </a:rPr>
              <a:t>7 HODs  ·  140 Papers  ·  3 NLP Models  ·  6 Research Questions Answered</a:t>
            </a:r>
            <a:endParaRPr lang="en-US" sz="1200" dirty="0"/>
          </a:p>
        </p:txBody>
      </p:sp>
      <p:sp>
        <p:nvSpPr>
          <p:cNvPr id="11" name="Text 9"/>
          <p:cNvSpPr/>
          <p:nvPr/>
        </p:nvSpPr>
        <p:spPr>
          <a:xfrm>
            <a:off x="411480" y="4882896"/>
            <a:ext cx="8229600" cy="265176"/>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Analysis produced using LDA · BERTopic · T5/BART  |  2024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2472</TotalTime>
  <Words>2234</Words>
  <Application>Microsoft Office PowerPoint</Application>
  <PresentationFormat>On-screen Show (16:9)</PresentationFormat>
  <Paragraphs>316</Paragraphs>
  <Slides>26</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UGBS HOD Research Analysis — NLP Summarisation Study</dc:title>
  <dc:subject>PptxGenJS Presentation</dc:subject>
  <dc:creator>PptxGenJS</dc:creator>
  <cp:lastModifiedBy>Okyere Haziel Opoku</cp:lastModifiedBy>
  <cp:revision>7</cp:revision>
  <dcterms:created xsi:type="dcterms:W3CDTF">2026-03-29T23:34:59Z</dcterms:created>
  <dcterms:modified xsi:type="dcterms:W3CDTF">2026-03-31T23:58:23Z</dcterms:modified>
</cp:coreProperties>
</file>